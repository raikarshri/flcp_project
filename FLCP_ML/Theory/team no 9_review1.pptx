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Cantarell"/>
      <p:regular r:id="rId28"/>
      <p:bold r:id="rId29"/>
      <p:italic r:id="rId30"/>
      <p:boldItalic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6" roundtripDataSignature="AMtx7mjbEmus7hGPySVSzbLAtYvPxe3q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9DB00F-3452-4C47-8AEF-A293B3BBBB1B}">
  <a:tblStyle styleId="{7C9DB00F-3452-4C47-8AEF-A293B3BBBB1B}"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7E7"/>
          </a:solidFill>
        </a:fill>
      </a:tcStyle>
    </a:wholeTbl>
    <a:band1H>
      <a:tcTxStyle/>
      <a:tcStyle>
        <a:fill>
          <a:solidFill>
            <a:srgbClr val="CBCBCB"/>
          </a:solidFill>
        </a:fill>
      </a:tcStyle>
    </a:band1H>
    <a:band2H>
      <a:tcTxStyle/>
    </a:band2H>
    <a:band1V>
      <a:tcTxStyle/>
      <a:tcStyle>
        <a:fill>
          <a:solidFill>
            <a:srgbClr val="CBCBCB"/>
          </a:solidFill>
        </a:fill>
      </a:tcStyle>
    </a:band1V>
    <a:band2V>
      <a:tcTxStyle/>
    </a:band2V>
    <a:lastCol>
      <a:tcTxStyle b="on" i="off">
        <a:font>
          <a:latin typeface="Arial"/>
          <a:ea typeface="Arial"/>
          <a:cs typeface="Arial"/>
        </a:font>
        <a:schemeClr val="lt1"/>
      </a:tcTxStyle>
      <a:tcStyle>
        <a:fill>
          <a:solidFill>
            <a:schemeClr val="accent2"/>
          </a:solidFill>
        </a:fill>
      </a:tcStyle>
    </a:lastCol>
    <a:firstCol>
      <a:tcTxStyle b="on" i="off">
        <a:font>
          <a:latin typeface="Arial"/>
          <a:ea typeface="Arial"/>
          <a:cs typeface="Arial"/>
        </a:font>
        <a:schemeClr val="lt1"/>
      </a:tcTxStyle>
      <a:tcStyle>
        <a:fill>
          <a:solidFill>
            <a:schemeClr val="accent2"/>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a:neCell>
    <a:nwCell>
      <a:tcTxStyle/>
    </a:nwCell>
  </a:tblStyle>
  <a:tblStyle styleId="{D63B1057-A7B5-47D8-AD01-F1C6BBCDE35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antarell-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antarell-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antarell-boldItalic.fntdata"/><Relationship Id="rId30" Type="http://schemas.openxmlformats.org/officeDocument/2006/relationships/font" Target="fonts/Cantarell-italic.fntdata"/><Relationship Id="rId11" Type="http://schemas.openxmlformats.org/officeDocument/2006/relationships/slide" Target="slides/slide5.xml"/><Relationship Id="rId33" Type="http://schemas.openxmlformats.org/officeDocument/2006/relationships/font" Target="fonts/RobotoMono-bold.fntdata"/><Relationship Id="rId10" Type="http://schemas.openxmlformats.org/officeDocument/2006/relationships/slide" Target="slides/slide4.xml"/><Relationship Id="rId32" Type="http://schemas.openxmlformats.org/officeDocument/2006/relationships/font" Target="fonts/RobotoMono-regular.fntdata"/><Relationship Id="rId13" Type="http://schemas.openxmlformats.org/officeDocument/2006/relationships/slide" Target="slides/slide7.xml"/><Relationship Id="rId35" Type="http://schemas.openxmlformats.org/officeDocument/2006/relationships/font" Target="fonts/RobotoMono-boldItalic.fntdata"/><Relationship Id="rId12" Type="http://schemas.openxmlformats.org/officeDocument/2006/relationships/slide" Target="slides/slide6.xml"/><Relationship Id="rId34" Type="http://schemas.openxmlformats.org/officeDocument/2006/relationships/font" Target="fonts/RobotoMono-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 name="Google Shape;5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dabd06b1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dabd06b1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74f83c9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74f83c9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dabd06b1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dabd06b1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dabd06b1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dabd06b1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dabd06b1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dabd06b1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dabd06b1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dabd06b1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dabd06b1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dabd06b1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e914e93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be914e93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7a03537a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7a03537a4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7a03537a4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c7a03537a4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pic>
        <p:nvPicPr>
          <p:cNvPr descr="A white and gold rectangles&#10;&#10;Description automatically generated with low confidence" id="14" name="Google Shape;14;p16"/>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pic>
        <p:nvPicPr>
          <p:cNvPr descr="A picture containing text, logo, font, graphics&#10;&#10;Description automatically generated" id="15" name="Google Shape;15;p16"/>
          <p:cNvPicPr preferRelativeResize="0"/>
          <p:nvPr/>
        </p:nvPicPr>
        <p:blipFill rotWithShape="1">
          <a:blip r:embed="rId3">
            <a:alphaModFix/>
          </a:blip>
          <a:srcRect b="0" l="0" r="0" t="0"/>
          <a:stretch/>
        </p:blipFill>
        <p:spPr>
          <a:xfrm>
            <a:off x="7127532" y="1"/>
            <a:ext cx="2016469" cy="1133475"/>
          </a:xfrm>
          <a:prstGeom prst="rect">
            <a:avLst/>
          </a:prstGeom>
          <a:noFill/>
          <a:ln>
            <a:noFill/>
          </a:ln>
        </p:spPr>
      </p:pic>
      <p:sp>
        <p:nvSpPr>
          <p:cNvPr id="16" name="Google Shape;16;p16"/>
          <p:cNvSpPr/>
          <p:nvPr/>
        </p:nvSpPr>
        <p:spPr>
          <a:xfrm>
            <a:off x="0" y="4676776"/>
            <a:ext cx="9144000" cy="466800"/>
          </a:xfrm>
          <a:prstGeom prst="round2SameRect">
            <a:avLst>
              <a:gd fmla="val 50000" name="adj1"/>
              <a:gd fmla="val 0"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 name="Google Shape;17;p16"/>
          <p:cNvSpPr/>
          <p:nvPr/>
        </p:nvSpPr>
        <p:spPr>
          <a:xfrm>
            <a:off x="0" y="5109210"/>
            <a:ext cx="9144000" cy="34200"/>
          </a:xfrm>
          <a:prstGeom prst="round2SameRect">
            <a:avLst>
              <a:gd fmla="val 0" name="adj1"/>
              <a:gd fmla="val 0" name="adj2"/>
            </a:avLst>
          </a:prstGeom>
          <a:solidFill>
            <a:srgbClr val="D7AC5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 name="Google Shape;24;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 name="Google Shape;35;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9" name="Google Shape;3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3" name="Google Shape;43;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5" name="Google Shape;4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8" name="Google Shape;4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1" name="Google Shape;51;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nvSpPr>
        <p:spPr>
          <a:xfrm>
            <a:off x="735125" y="794675"/>
            <a:ext cx="6483900" cy="2978400"/>
          </a:xfrm>
          <a:prstGeom prst="rect">
            <a:avLst/>
          </a:prstGeom>
          <a:solidFill>
            <a:srgbClr val="233039"/>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t/>
            </a:r>
            <a:endParaRPr b="1" i="0" sz="2700" u="none" cap="none" strike="noStrike">
              <a:solidFill>
                <a:srgbClr val="D7AC54"/>
              </a:solidFill>
              <a:latin typeface="Cantarell"/>
              <a:ea typeface="Cantarell"/>
              <a:cs typeface="Cantarell"/>
              <a:sym typeface="Cantarell"/>
            </a:endParaRPr>
          </a:p>
          <a:p>
            <a:pPr indent="0" lvl="0" marL="0" marR="0" rtl="0" algn="ctr">
              <a:lnSpc>
                <a:spcPct val="100000"/>
              </a:lnSpc>
              <a:spcBef>
                <a:spcPts val="0"/>
              </a:spcBef>
              <a:spcAft>
                <a:spcPts val="0"/>
              </a:spcAft>
              <a:buClr>
                <a:srgbClr val="000000"/>
              </a:buClr>
              <a:buSzPts val="2700"/>
              <a:buFont typeface="Arial"/>
              <a:buNone/>
            </a:pPr>
            <a:r>
              <a:rPr b="1" i="0" lang="en-US" sz="2700" u="none" cap="none" strike="noStrike">
                <a:solidFill>
                  <a:srgbClr val="D7AC54"/>
                </a:solidFill>
                <a:latin typeface="Cantarell"/>
                <a:ea typeface="Cantarell"/>
                <a:cs typeface="Cantarell"/>
                <a:sym typeface="Cantarell"/>
              </a:rPr>
              <a:t>   </a:t>
            </a:r>
            <a:r>
              <a:rPr b="1" lang="en-US" sz="2700">
                <a:solidFill>
                  <a:srgbClr val="D7AC54"/>
                </a:solidFill>
                <a:latin typeface="Cantarell"/>
                <a:ea typeface="Cantarell"/>
                <a:cs typeface="Cantarell"/>
                <a:sym typeface="Cantarell"/>
              </a:rPr>
              <a:t>Full-Stack based Lung Cancer Risk Prediction using ML,DL and QML</a:t>
            </a:r>
            <a:endParaRPr b="1" i="0" sz="2700" u="none" cap="none" strike="noStrike">
              <a:solidFill>
                <a:srgbClr val="D7AC54"/>
              </a:solidFill>
              <a:latin typeface="Cantarell"/>
              <a:ea typeface="Cantarell"/>
              <a:cs typeface="Cantarell"/>
              <a:sym typeface="Cantarell"/>
            </a:endParaRPr>
          </a:p>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D7AC54"/>
                </a:solidFill>
                <a:latin typeface="Cantarell"/>
                <a:ea typeface="Cantarell"/>
                <a:cs typeface="Cantarell"/>
                <a:sym typeface="Cantarell"/>
              </a:rPr>
              <a:t>   </a:t>
            </a:r>
            <a:endParaRPr b="1" i="0" sz="2700" u="none" cap="none" strike="noStrike">
              <a:solidFill>
                <a:srgbClr val="D7AC54"/>
              </a:solidFill>
              <a:latin typeface="Cantarell"/>
              <a:ea typeface="Cantarell"/>
              <a:cs typeface="Cantarell"/>
              <a:sym typeface="Cantarell"/>
            </a:endParaRPr>
          </a:p>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D7AC54"/>
                </a:solidFill>
                <a:latin typeface="Cantarell"/>
                <a:ea typeface="Cantarell"/>
                <a:cs typeface="Cantarell"/>
                <a:sym typeface="Cantarell"/>
              </a:rPr>
              <a:t>     </a:t>
            </a:r>
            <a:endParaRPr b="0" i="0" sz="2700" u="none" cap="none" strike="noStrike">
              <a:solidFill>
                <a:srgbClr val="D7AC54"/>
              </a:solidFill>
              <a:latin typeface="Cantarell"/>
              <a:ea typeface="Cantarell"/>
              <a:cs typeface="Cantarell"/>
              <a:sym typeface="Cantarell"/>
            </a:endParaRPr>
          </a:p>
          <a:p>
            <a:pPr indent="0" lvl="0" marL="0" marR="0" rtl="0" algn="ctr">
              <a:lnSpc>
                <a:spcPct val="100000"/>
              </a:lnSpc>
              <a:spcBef>
                <a:spcPts val="0"/>
              </a:spcBef>
              <a:spcAft>
                <a:spcPts val="0"/>
              </a:spcAft>
              <a:buClr>
                <a:srgbClr val="000000"/>
              </a:buClr>
              <a:buSzPts val="2700"/>
              <a:buFont typeface="Arial"/>
              <a:buNone/>
            </a:pPr>
            <a:r>
              <a:t/>
            </a:r>
            <a:endParaRPr b="1" i="0" sz="2700" u="none" cap="none" strike="noStrike">
              <a:solidFill>
                <a:srgbClr val="D7AC54"/>
              </a:solidFill>
              <a:latin typeface="Cantarell"/>
              <a:ea typeface="Cantarell"/>
              <a:cs typeface="Cantarell"/>
              <a:sym typeface="Cantarell"/>
            </a:endParaRPr>
          </a:p>
        </p:txBody>
      </p:sp>
      <p:pic>
        <p:nvPicPr>
          <p:cNvPr descr="A picture containing text, logo, font, graphics&#10;&#10;Description automatically generated" id="60" name="Google Shape;60;p1"/>
          <p:cNvPicPr preferRelativeResize="0"/>
          <p:nvPr/>
        </p:nvPicPr>
        <p:blipFill rotWithShape="1">
          <a:blip r:embed="rId3">
            <a:alphaModFix/>
          </a:blip>
          <a:srcRect b="0" l="0" r="0" t="0"/>
          <a:stretch/>
        </p:blipFill>
        <p:spPr>
          <a:xfrm>
            <a:off x="6994922" y="0"/>
            <a:ext cx="2149079" cy="1208018"/>
          </a:xfrm>
          <a:prstGeom prst="rect">
            <a:avLst/>
          </a:prstGeom>
          <a:noFill/>
          <a:ln>
            <a:noFill/>
          </a:ln>
        </p:spPr>
      </p:pic>
      <p:sp>
        <p:nvSpPr>
          <p:cNvPr id="61" name="Google Shape;61;p1"/>
          <p:cNvSpPr/>
          <p:nvPr/>
        </p:nvSpPr>
        <p:spPr>
          <a:xfrm>
            <a:off x="0" y="4791075"/>
            <a:ext cx="9144000" cy="95100"/>
          </a:xfrm>
          <a:prstGeom prst="rect">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2" name="Google Shape;62;p1"/>
          <p:cNvSpPr/>
          <p:nvPr/>
        </p:nvSpPr>
        <p:spPr>
          <a:xfrm flipH="1" rot="10800000">
            <a:off x="0" y="4930228"/>
            <a:ext cx="9144000" cy="34200"/>
          </a:xfrm>
          <a:prstGeom prst="rect">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3" name="Google Shape;63;p1"/>
          <p:cNvSpPr txBox="1"/>
          <p:nvPr/>
        </p:nvSpPr>
        <p:spPr>
          <a:xfrm>
            <a:off x="2768760" y="3715613"/>
            <a:ext cx="4111800" cy="1154400"/>
          </a:xfrm>
          <a:prstGeom prst="rect">
            <a:avLst/>
          </a:prstGeom>
          <a:noFill/>
          <a:ln>
            <a:noFill/>
          </a:ln>
        </p:spPr>
        <p:txBody>
          <a:bodyPr anchorCtr="0" anchor="t" bIns="68575" lIns="68575" spcFirstLastPara="1" rIns="68575" wrap="square" tIns="68575">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                                                      Team members</a:t>
            </a:r>
            <a:endParaRPr b="1"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USN </a:t>
            </a:r>
            <a:r>
              <a:rPr b="1" lang="en-US" sz="1100"/>
              <a:t>1RVU22CSE145</a:t>
            </a:r>
            <a:r>
              <a:rPr b="1" i="0" lang="en-US" sz="1100" u="none" cap="none" strike="noStrike">
                <a:solidFill>
                  <a:srgbClr val="000000"/>
                </a:solidFill>
                <a:latin typeface="Arial"/>
                <a:ea typeface="Arial"/>
                <a:cs typeface="Arial"/>
                <a:sym typeface="Arial"/>
              </a:rPr>
              <a:t>  - </a:t>
            </a:r>
            <a:r>
              <a:rPr b="1" lang="en-US" sz="1100"/>
              <a:t>Shashank G</a:t>
            </a:r>
            <a:endParaRPr b="1"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USN </a:t>
            </a:r>
            <a:r>
              <a:rPr b="1" lang="en-US" sz="1100">
                <a:solidFill>
                  <a:schemeClr val="dk1"/>
                </a:solidFill>
              </a:rPr>
              <a:t>1RVU22CSE112</a:t>
            </a:r>
            <a:r>
              <a:rPr b="1" i="0" lang="en-US" sz="1100" u="none" cap="none" strike="noStrike">
                <a:solidFill>
                  <a:schemeClr val="dk1"/>
                </a:solidFill>
                <a:latin typeface="Arial"/>
                <a:ea typeface="Arial"/>
                <a:cs typeface="Arial"/>
                <a:sym typeface="Arial"/>
              </a:rPr>
              <a:t>  - </a:t>
            </a:r>
            <a:r>
              <a:rPr b="1" lang="en-US" sz="1100">
                <a:solidFill>
                  <a:schemeClr val="dk1"/>
                </a:solidFill>
              </a:rPr>
              <a:t>Nithish N</a:t>
            </a:r>
            <a:endParaRPr b="1"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USN </a:t>
            </a:r>
            <a:r>
              <a:rPr b="1" lang="en-US" sz="1100">
                <a:solidFill>
                  <a:schemeClr val="dk1"/>
                </a:solidFill>
              </a:rPr>
              <a:t>1RVU23LCSE007</a:t>
            </a:r>
            <a:r>
              <a:rPr b="1" i="0" lang="en-US" sz="1100" u="none" cap="none" strike="noStrike">
                <a:solidFill>
                  <a:schemeClr val="dk1"/>
                </a:solidFill>
                <a:latin typeface="Arial"/>
                <a:ea typeface="Arial"/>
                <a:cs typeface="Arial"/>
                <a:sym typeface="Arial"/>
              </a:rPr>
              <a:t>  - </a:t>
            </a:r>
            <a:r>
              <a:rPr b="1" lang="en-US" sz="1100">
                <a:solidFill>
                  <a:schemeClr val="dk1"/>
                </a:solidFill>
              </a:rPr>
              <a:t>Shrinidhi R</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USN </a:t>
            </a:r>
            <a:r>
              <a:rPr b="1" lang="en-US" sz="1100">
                <a:solidFill>
                  <a:schemeClr val="dk1"/>
                </a:solidFill>
              </a:rPr>
              <a:t>1RVU23LCSE005</a:t>
            </a:r>
            <a:r>
              <a:rPr b="1" i="0" lang="en-US" sz="1100" u="none" cap="none" strike="noStrike">
                <a:solidFill>
                  <a:schemeClr val="dk1"/>
                </a:solidFill>
                <a:latin typeface="Arial"/>
                <a:ea typeface="Arial"/>
                <a:cs typeface="Arial"/>
                <a:sym typeface="Arial"/>
              </a:rPr>
              <a:t>  - </a:t>
            </a:r>
            <a:r>
              <a:rPr b="1" lang="en-US" sz="1100">
                <a:solidFill>
                  <a:schemeClr val="dk1"/>
                </a:solidFill>
              </a:rPr>
              <a:t>Pruthviraj R</a:t>
            </a:r>
            <a:r>
              <a:rPr b="1" i="0" lang="en-US" sz="11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 </a:t>
            </a:r>
            <a:endParaRPr b="1" i="0" sz="1100" u="none" cap="none" strike="noStrike">
              <a:solidFill>
                <a:srgbClr val="000000"/>
              </a:solidFill>
              <a:latin typeface="Arial"/>
              <a:ea typeface="Arial"/>
              <a:cs typeface="Arial"/>
              <a:sym typeface="Arial"/>
            </a:endParaRPr>
          </a:p>
        </p:txBody>
      </p:sp>
      <p:sp>
        <p:nvSpPr>
          <p:cNvPr id="64" name="Google Shape;64;p1"/>
          <p:cNvSpPr txBox="1"/>
          <p:nvPr/>
        </p:nvSpPr>
        <p:spPr>
          <a:xfrm>
            <a:off x="420360" y="3715626"/>
            <a:ext cx="44619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Project Guide: </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Prof. </a:t>
            </a:r>
            <a:r>
              <a:rPr b="1" lang="en-US" sz="1100"/>
              <a:t>CVSN Reddy</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Assistant Professor/Associate Professor/Professor</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School of Computer Science and Engineering </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RV University, Bangalore </a:t>
            </a:r>
            <a:endParaRPr b="1" i="0" sz="1100" u="none" cap="none" strike="noStrike">
              <a:solidFill>
                <a:srgbClr val="000000"/>
              </a:solidFill>
              <a:latin typeface="Arial"/>
              <a:ea typeface="Arial"/>
              <a:cs typeface="Arial"/>
              <a:sym typeface="Arial"/>
            </a:endParaRPr>
          </a:p>
        </p:txBody>
      </p:sp>
      <p:sp>
        <p:nvSpPr>
          <p:cNvPr id="65" name="Google Shape;65;p1"/>
          <p:cNvSpPr txBox="1"/>
          <p:nvPr/>
        </p:nvSpPr>
        <p:spPr>
          <a:xfrm>
            <a:off x="279435" y="179071"/>
            <a:ext cx="7395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School of Computer Science and Engineering</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5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
          <p:cNvSpPr/>
          <p:nvPr/>
        </p:nvSpPr>
        <p:spPr>
          <a:xfrm>
            <a:off x="0" y="179325"/>
            <a:ext cx="7125600" cy="7281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2200" u="none" cap="none" strike="noStrike">
                <a:solidFill>
                  <a:srgbClr val="D7AC54"/>
                </a:solidFill>
                <a:latin typeface="Cantarell"/>
                <a:ea typeface="Cantarell"/>
                <a:cs typeface="Cantarell"/>
                <a:sym typeface="Cantarell"/>
              </a:rPr>
              <a:t>Outlines </a:t>
            </a:r>
            <a:endParaRPr b="1" i="0" sz="2200" u="none" cap="none" strike="noStrike">
              <a:solidFill>
                <a:srgbClr val="D7AC54"/>
              </a:solidFill>
              <a:latin typeface="Cantarell"/>
              <a:ea typeface="Cantarell"/>
              <a:cs typeface="Cantarell"/>
              <a:sym typeface="Cantarell"/>
            </a:endParaRPr>
          </a:p>
        </p:txBody>
      </p:sp>
      <p:sp>
        <p:nvSpPr>
          <p:cNvPr id="71" name="Google Shape;71;p2"/>
          <p:cNvSpPr txBox="1"/>
          <p:nvPr/>
        </p:nvSpPr>
        <p:spPr>
          <a:xfrm>
            <a:off x="390741" y="1040642"/>
            <a:ext cx="8037300" cy="3660223"/>
          </a:xfrm>
          <a:prstGeom prst="rect">
            <a:avLst/>
          </a:prstGeom>
          <a:noFill/>
          <a:ln>
            <a:noFill/>
          </a:ln>
        </p:spPr>
        <p:txBody>
          <a:bodyPr anchorCtr="0" anchor="t" bIns="68575" lIns="68575" spcFirstLastPara="1" rIns="68575" wrap="square" tIns="68575">
            <a:spAutoFit/>
          </a:bodyPr>
          <a:lstStyle/>
          <a:p>
            <a:pPr indent="-349250" lvl="0" marL="457200" marR="0" rtl="0" algn="l">
              <a:lnSpc>
                <a:spcPct val="115000"/>
              </a:lnSpc>
              <a:spcBef>
                <a:spcPts val="0"/>
              </a:spcBef>
              <a:spcAft>
                <a:spcPts val="0"/>
              </a:spcAft>
              <a:buClr>
                <a:schemeClr val="dk1"/>
              </a:buClr>
              <a:buSzPts val="1900"/>
              <a:buFont typeface="Arial"/>
              <a:buAutoNum type="arabicPeriod"/>
            </a:pPr>
            <a:r>
              <a:rPr b="0" i="0" lang="en-US" sz="2000" u="none" cap="none" strike="noStrike">
                <a:solidFill>
                  <a:schemeClr val="dk1"/>
                </a:solidFill>
                <a:latin typeface="Arial"/>
                <a:ea typeface="Arial"/>
                <a:cs typeface="Arial"/>
                <a:sym typeface="Arial"/>
              </a:rPr>
              <a:t>Introduction </a:t>
            </a:r>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US" sz="2000" u="none" cap="none" strike="noStrike">
                <a:solidFill>
                  <a:srgbClr val="000000"/>
                </a:solidFill>
                <a:latin typeface="Arial"/>
                <a:ea typeface="Arial"/>
                <a:cs typeface="Arial"/>
                <a:sym typeface="Arial"/>
              </a:rPr>
              <a:t>Literature survey</a:t>
            </a:r>
            <a:endParaRPr b="0" i="0" sz="20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US" sz="2000" u="none" cap="none" strike="noStrike">
                <a:solidFill>
                  <a:schemeClr val="dk1"/>
                </a:solidFill>
                <a:latin typeface="Arial"/>
                <a:ea typeface="Arial"/>
                <a:cs typeface="Arial"/>
                <a:sym typeface="Arial"/>
              </a:rPr>
              <a:t>Problem statement </a:t>
            </a:r>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US" sz="2000" u="none" cap="none" strike="noStrike">
                <a:solidFill>
                  <a:schemeClr val="dk1"/>
                </a:solidFill>
                <a:latin typeface="Arial"/>
                <a:ea typeface="Arial"/>
                <a:cs typeface="Arial"/>
                <a:sym typeface="Arial"/>
              </a:rPr>
              <a:t>Objectives and Expected outcomes</a:t>
            </a:r>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US" sz="2000" u="none" cap="none" strike="noStrike">
                <a:solidFill>
                  <a:schemeClr val="dk1"/>
                </a:solidFill>
                <a:latin typeface="Arial"/>
                <a:ea typeface="Arial"/>
                <a:cs typeface="Arial"/>
                <a:sym typeface="Arial"/>
              </a:rPr>
              <a:t>System Requirement Specification</a:t>
            </a:r>
            <a:endParaRPr b="0" i="0" sz="2000" u="none" cap="none" strike="noStrike">
              <a:solidFill>
                <a:srgbClr val="000000"/>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US" sz="2000" u="none" cap="none" strike="noStrike">
                <a:solidFill>
                  <a:schemeClr val="dk1"/>
                </a:solidFill>
                <a:latin typeface="Arial"/>
                <a:ea typeface="Arial"/>
                <a:cs typeface="Arial"/>
                <a:sym typeface="Arial"/>
              </a:rPr>
              <a:t>Proposed Methodology</a:t>
            </a:r>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US" sz="2000" u="none" cap="none" strike="noStrike">
                <a:solidFill>
                  <a:schemeClr val="dk1"/>
                </a:solidFill>
                <a:latin typeface="Arial"/>
                <a:ea typeface="Arial"/>
                <a:cs typeface="Arial"/>
                <a:sym typeface="Arial"/>
              </a:rPr>
              <a:t>Architecture diagram </a:t>
            </a:r>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US" sz="2000" u="none" cap="none" strike="noStrike">
                <a:solidFill>
                  <a:schemeClr val="dk1"/>
                </a:solidFill>
                <a:latin typeface="Arial"/>
                <a:ea typeface="Arial"/>
                <a:cs typeface="Arial"/>
                <a:sym typeface="Arial"/>
              </a:rPr>
              <a:t>Gantt char</a:t>
            </a:r>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US" sz="2000" u="none" cap="none" strike="noStrike">
                <a:solidFill>
                  <a:schemeClr val="dk1"/>
                </a:solidFill>
                <a:latin typeface="Arial"/>
                <a:ea typeface="Arial"/>
                <a:cs typeface="Arial"/>
                <a:sym typeface="Arial"/>
              </a:rPr>
              <a:t>References </a:t>
            </a:r>
            <a:endParaRPr/>
          </a:p>
          <a:p>
            <a:pPr indent="-228600" lvl="0" marL="457200" marR="0" rtl="0" algn="l">
              <a:lnSpc>
                <a:spcPct val="115000"/>
              </a:lnSpc>
              <a:spcBef>
                <a:spcPts val="0"/>
              </a:spcBef>
              <a:spcAft>
                <a:spcPts val="0"/>
              </a:spcAft>
              <a:buClr>
                <a:schemeClr val="dk1"/>
              </a:buClr>
              <a:buSzPts val="1900"/>
              <a:buFont typeface="Arial"/>
              <a:buNone/>
            </a:pPr>
            <a:r>
              <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3"/>
          <p:cNvSpPr txBox="1"/>
          <p:nvPr/>
        </p:nvSpPr>
        <p:spPr>
          <a:xfrm>
            <a:off x="696125" y="1108550"/>
            <a:ext cx="7347900" cy="3724800"/>
          </a:xfrm>
          <a:prstGeom prst="rect">
            <a:avLst/>
          </a:prstGeom>
          <a:noFill/>
          <a:ln>
            <a:noFill/>
          </a:ln>
        </p:spPr>
        <p:txBody>
          <a:bodyPr anchorCtr="0" anchor="t" bIns="91425" lIns="91425" spcFirstLastPara="1" rIns="91425" wrap="square" tIns="91425">
            <a:spAutoFit/>
          </a:bodyPr>
          <a:lstStyle/>
          <a:p>
            <a:pPr indent="-323850" lvl="0" marL="342900" marR="0" rtl="0" algn="just">
              <a:lnSpc>
                <a:spcPct val="150000"/>
              </a:lnSpc>
              <a:spcBef>
                <a:spcPts val="0"/>
              </a:spcBef>
              <a:spcAft>
                <a:spcPts val="0"/>
              </a:spcAft>
              <a:buClr>
                <a:srgbClr val="000000"/>
              </a:buClr>
              <a:buSzPts val="1500"/>
              <a:buFont typeface="Arial"/>
              <a:buChar char="•"/>
            </a:pPr>
            <a:r>
              <a:rPr lang="en-US" sz="1500"/>
              <a:t>Lung cancer is one of the leading causes of cancer-related deaths worldwide, largely due to late-stage detection, which significantly reduces survival rates. Early identification of individuals at high risk remains a critical challenge in healthcare.</a:t>
            </a:r>
            <a:endParaRPr sz="1100"/>
          </a:p>
          <a:p>
            <a:pPr indent="-317500" lvl="0" marL="342900" marR="0" rtl="0" algn="just">
              <a:lnSpc>
                <a:spcPct val="150000"/>
              </a:lnSpc>
              <a:spcBef>
                <a:spcPts val="0"/>
              </a:spcBef>
              <a:spcAft>
                <a:spcPts val="0"/>
              </a:spcAft>
              <a:buClr>
                <a:srgbClr val="000000"/>
              </a:buClr>
              <a:buSzPts val="1400"/>
              <a:buFont typeface="Arial"/>
              <a:buChar char="•"/>
            </a:pPr>
            <a:r>
              <a:rPr lang="en-US"/>
              <a:t>While</a:t>
            </a:r>
            <a:r>
              <a:rPr lang="en-US"/>
              <a:t> </a:t>
            </a:r>
            <a:r>
              <a:rPr lang="en-US"/>
              <a:t>c</a:t>
            </a:r>
            <a:r>
              <a:rPr lang="en-US"/>
              <a:t>linical diagnosis relies on medical tests and expert evaluation, there is a growing need for supportive, data-driven systems that can assist in early risk assessment and promote timely preventive screening. </a:t>
            </a:r>
            <a:endParaRPr/>
          </a:p>
          <a:p>
            <a:pPr indent="-317500" lvl="0" marL="342900" marR="0" rtl="0" algn="just">
              <a:lnSpc>
                <a:spcPct val="150000"/>
              </a:lnSpc>
              <a:spcBef>
                <a:spcPts val="0"/>
              </a:spcBef>
              <a:spcAft>
                <a:spcPts val="0"/>
              </a:spcAft>
              <a:buClr>
                <a:srgbClr val="000000"/>
              </a:buClr>
              <a:buSzPts val="1400"/>
              <a:buFont typeface="Arial"/>
              <a:buChar char="•"/>
            </a:pPr>
            <a:r>
              <a:rPr lang="en-US"/>
              <a:t>Machine learning techniques enable the analysis of large-scale healthcare data to uncover hidden patterns that may indicate disease risk before severe symptoms appear.</a:t>
            </a:r>
            <a:endParaRPr sz="1000"/>
          </a:p>
          <a:p>
            <a:pPr indent="0" lvl="0" marL="457200" marR="0" rtl="0" algn="just">
              <a:lnSpc>
                <a:spcPct val="150000"/>
              </a:lnSpc>
              <a:spcBef>
                <a:spcPts val="0"/>
              </a:spcBef>
              <a:spcAft>
                <a:spcPts val="0"/>
              </a:spcAft>
              <a:buNone/>
            </a:pPr>
            <a:r>
              <a:t/>
            </a:r>
            <a:endParaRPr/>
          </a:p>
        </p:txBody>
      </p:sp>
      <p:sp>
        <p:nvSpPr>
          <p:cNvPr id="77" name="Google Shape;77;p3"/>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2200" u="none" cap="none" strike="noStrike">
                <a:solidFill>
                  <a:srgbClr val="D7AC54"/>
                </a:solidFill>
                <a:latin typeface="Cantarell"/>
                <a:ea typeface="Cantarell"/>
                <a:cs typeface="Cantarell"/>
                <a:sym typeface="Cantarell"/>
              </a:rPr>
              <a:t>Introduction  </a:t>
            </a:r>
            <a:endParaRPr b="1" i="0" sz="2200" u="none" cap="none" strike="noStrike">
              <a:solidFill>
                <a:srgbClr val="D7AC54"/>
              </a:solidFill>
              <a:latin typeface="Cantarell"/>
              <a:ea typeface="Cantarell"/>
              <a:cs typeface="Cantarell"/>
              <a:sym typeface="Cantare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bdabd06b18_0_6"/>
          <p:cNvSpPr txBox="1"/>
          <p:nvPr/>
        </p:nvSpPr>
        <p:spPr>
          <a:xfrm>
            <a:off x="307675" y="1002875"/>
            <a:ext cx="8196600" cy="3335100"/>
          </a:xfrm>
          <a:prstGeom prst="rect">
            <a:avLst/>
          </a:prstGeom>
          <a:noFill/>
          <a:ln>
            <a:noFill/>
          </a:ln>
        </p:spPr>
        <p:txBody>
          <a:bodyPr anchorCtr="0" anchor="t" bIns="91425" lIns="91425" spcFirstLastPara="1" rIns="91425" wrap="square" tIns="91425">
            <a:noAutofit/>
          </a:bodyPr>
          <a:lstStyle/>
          <a:p>
            <a:pPr indent="-323850" lvl="0" marL="342900" rtl="0" algn="just">
              <a:lnSpc>
                <a:spcPct val="150000"/>
              </a:lnSpc>
              <a:spcBef>
                <a:spcPts val="0"/>
              </a:spcBef>
              <a:spcAft>
                <a:spcPts val="0"/>
              </a:spcAft>
              <a:buClr>
                <a:schemeClr val="dk1"/>
              </a:buClr>
              <a:buSzPts val="1500"/>
              <a:buChar char="•"/>
            </a:pPr>
            <a:r>
              <a:rPr lang="en-US" sz="1500">
                <a:solidFill>
                  <a:schemeClr val="dk1"/>
                </a:solidFill>
              </a:rPr>
              <a:t>The scope of this project is to design a full-stack lung cancer risk prediction system that leverages patient data to estimate cancer risk</a:t>
            </a:r>
            <a:r>
              <a:rPr lang="en-US" sz="1500">
                <a:solidFill>
                  <a:schemeClr val="dk1"/>
                </a:solidFill>
              </a:rPr>
              <a:t>.</a:t>
            </a:r>
            <a:r>
              <a:rPr lang="en-US" sz="1500">
                <a:solidFill>
                  <a:schemeClr val="dk1"/>
                </a:solidFill>
              </a:rPr>
              <a:t> The system evaluates and compares traditional machine learning models, deep learning approaches, and emerging quantum machine learning (QML/QNN) techniques to assess their predictive performance.</a:t>
            </a:r>
            <a:endParaRPr sz="1100">
              <a:solidFill>
                <a:schemeClr val="dk1"/>
              </a:solidFill>
            </a:endParaRPr>
          </a:p>
          <a:p>
            <a:pPr indent="-323850" lvl="0" marL="342900" rtl="0" algn="just">
              <a:lnSpc>
                <a:spcPct val="150000"/>
              </a:lnSpc>
              <a:spcBef>
                <a:spcPts val="0"/>
              </a:spcBef>
              <a:spcAft>
                <a:spcPts val="0"/>
              </a:spcAft>
              <a:buClr>
                <a:schemeClr val="dk1"/>
              </a:buClr>
              <a:buSzPts val="1500"/>
              <a:buChar char="•"/>
            </a:pPr>
            <a:r>
              <a:rPr lang="en-US" sz="1500">
                <a:solidFill>
                  <a:schemeClr val="dk1"/>
                </a:solidFill>
              </a:rPr>
              <a:t>The key challenge addressed in this work is the lack of comparative analysis between classical and quantum-based models for lung cancer risk prediction, as well as the need for an integrated, user-accessible platform that supports early risk awareness and decision-making.</a:t>
            </a:r>
            <a:endParaRPr sz="15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88" name="Google Shape;88;p5"/>
          <p:cNvSpPr/>
          <p:nvPr/>
        </p:nvSpPr>
        <p:spPr>
          <a:xfrm>
            <a:off x="2199232" y="565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2200" u="none" cap="none" strike="noStrike">
                <a:solidFill>
                  <a:srgbClr val="D7AC54"/>
                </a:solidFill>
                <a:latin typeface="Cantarell"/>
                <a:ea typeface="Cantarell"/>
                <a:cs typeface="Cantarell"/>
                <a:sym typeface="Cantarell"/>
              </a:rPr>
              <a:t>Literature survey</a:t>
            </a:r>
            <a:endParaRPr/>
          </a:p>
        </p:txBody>
      </p:sp>
      <p:graphicFrame>
        <p:nvGraphicFramePr>
          <p:cNvPr id="89" name="Google Shape;89;p5"/>
          <p:cNvGraphicFramePr/>
          <p:nvPr/>
        </p:nvGraphicFramePr>
        <p:xfrm>
          <a:off x="390983" y="761162"/>
          <a:ext cx="3000000" cy="3000000"/>
        </p:xfrm>
        <a:graphic>
          <a:graphicData uri="http://schemas.openxmlformats.org/drawingml/2006/table">
            <a:tbl>
              <a:tblPr bandRow="1" firstRow="1">
                <a:noFill/>
                <a:tableStyleId>{7C9DB00F-3452-4C47-8AEF-A293B3BBBB1B}</a:tableStyleId>
              </a:tblPr>
              <a:tblGrid>
                <a:gridCol w="2043950"/>
                <a:gridCol w="2481950"/>
                <a:gridCol w="2458900"/>
                <a:gridCol w="1690475"/>
              </a:tblGrid>
              <a:tr h="735750">
                <a:tc>
                  <a:txBody>
                    <a:bodyPr/>
                    <a:lstStyle/>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p>
                    <a:p>
                      <a:pPr indent="0" lvl="0" marL="0" marR="0" rtl="0" algn="l">
                        <a:lnSpc>
                          <a:spcPct val="100000"/>
                        </a:lnSpc>
                        <a:spcBef>
                          <a:spcPts val="0"/>
                        </a:spcBef>
                        <a:spcAft>
                          <a:spcPts val="0"/>
                        </a:spcAft>
                        <a:buClr>
                          <a:srgbClr val="000000"/>
                        </a:buClr>
                        <a:buSzPts val="1400"/>
                        <a:buFont typeface="Arial"/>
                        <a:buNone/>
                      </a:pPr>
                      <a:r>
                        <a:rPr b="1" lang="en-US" sz="1400" u="none" cap="none" strike="noStrike"/>
                        <a:t>Paper Details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None/>
                      </a:pPr>
                      <a:r>
                        <a:rPr lang="en-US" sz="1300" u="none" cap="none" strike="noStrike"/>
                        <a:t>Objective of paper, Techniques/Methods</a:t>
                      </a:r>
                      <a:endParaRPr sz="1300"/>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300" u="none" cap="none" strike="noStrike"/>
                        <a:t>Key Contribution</a:t>
                      </a:r>
                      <a:endParaRPr sz="13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Research Gap</a:t>
                      </a:r>
                      <a:endParaRPr sz="1400" u="none" cap="none" strike="noStrike"/>
                    </a:p>
                  </a:txBody>
                  <a:tcPr marT="45725" marB="45725" marR="91450" marL="91450" anchor="ctr"/>
                </a:tc>
              </a:tr>
              <a:tr h="1121750">
                <a:tc>
                  <a:txBody>
                    <a:bodyPr/>
                    <a:lstStyle/>
                    <a:p>
                      <a:pPr indent="0" lvl="0" marL="0" marR="0" rtl="0" algn="l">
                        <a:lnSpc>
                          <a:spcPct val="100000"/>
                        </a:lnSpc>
                        <a:spcBef>
                          <a:spcPts val="0"/>
                        </a:spcBef>
                        <a:spcAft>
                          <a:spcPts val="0"/>
                        </a:spcAft>
                        <a:buNone/>
                      </a:pPr>
                      <a:r>
                        <a:rPr lang="en-US" sz="900"/>
                        <a:t>Machine Learning Techniques for Lung Cancer Risk Prediction Using Text Dataset.” International Journal of Data Informatics and Intelligent Computing (IJDIIC), Vol. 2, No. 3, pp. 47–56, 2023.</a:t>
                      </a:r>
                      <a:endParaRPr sz="9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100"/>
                        <a:t>To predict lung cancer risk using machine learning models on structured text datasets. Applied Logistic Regression, Naïve Bayes, and SVM.</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100"/>
                        <a:t>Demonstrated that classical ML models can effectively predict lung cancer risk using structured healthcare data.</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000"/>
                        <a:t>Limited comparison across advanced ML models; no integration with deep learning or full-stack implementation.</a:t>
                      </a:r>
                      <a:endParaRPr sz="1000" u="none" cap="none" strike="noStrike"/>
                    </a:p>
                  </a:txBody>
                  <a:tcPr marT="45725" marB="45725" marR="91450" marL="91450"/>
                </a:tc>
              </a:tr>
              <a:tr h="951975">
                <a:tc>
                  <a:txBody>
                    <a:bodyPr/>
                    <a:lstStyle/>
                    <a:p>
                      <a:pPr indent="0" lvl="0" marL="0" marR="0" rtl="0" algn="l">
                        <a:lnSpc>
                          <a:spcPct val="100000"/>
                        </a:lnSpc>
                        <a:spcBef>
                          <a:spcPts val="0"/>
                        </a:spcBef>
                        <a:spcAft>
                          <a:spcPts val="0"/>
                        </a:spcAft>
                        <a:buNone/>
                      </a:pPr>
                      <a:r>
                        <a:rPr lang="en-US" sz="900"/>
                        <a:t>S. P. Maurya, P. S. Sisodia, R. Mishra, and D. P. Singh. “Performance of Machine Learning Algorithms for Lung Cancer Prediction: A Comparative Approach.” Scientific Reports, 2024.</a:t>
                      </a:r>
                      <a:endParaRPr sz="9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100"/>
                        <a:t>Comparative analysis of multiple ML algorithms on large real-world lung cancer datasets.</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200"/>
                        <a:t>I</a:t>
                      </a:r>
                      <a:r>
                        <a:rPr lang="en-US" sz="1100"/>
                        <a:t>dentified performance differences across classifiers using standard evaluation metrics.</a:t>
                      </a:r>
                      <a:endParaRPr sz="1100" u="none" cap="none" strike="noStrike"/>
                    </a:p>
                  </a:txBody>
                  <a:tcPr marT="45725" marB="45725" marR="91450" marL="91450"/>
                </a:tc>
                <a:tc>
                  <a:txBody>
                    <a:bodyPr/>
                    <a:lstStyle/>
                    <a:p>
                      <a:pPr indent="0" lvl="0" marL="0" rtl="0" algn="l">
                        <a:lnSpc>
                          <a:spcPct val="115000"/>
                        </a:lnSpc>
                        <a:spcBef>
                          <a:spcPts val="1200"/>
                        </a:spcBef>
                        <a:spcAft>
                          <a:spcPts val="0"/>
                        </a:spcAft>
                        <a:buClr>
                          <a:schemeClr val="dk1"/>
                        </a:buClr>
                        <a:buSzPts val="1100"/>
                        <a:buFont typeface="Arial"/>
                        <a:buNone/>
                      </a:pPr>
                      <a:r>
                        <a:rPr lang="en-US" sz="1000"/>
                        <a:t>Focused only on classical ML; no inclusion of DL or quantum models in a unified framework.</a:t>
                      </a:r>
                      <a:endParaRPr sz="1000"/>
                    </a:p>
                    <a:p>
                      <a:pPr indent="0" lvl="0" marL="0" marR="0" rtl="0" algn="l">
                        <a:lnSpc>
                          <a:spcPct val="100000"/>
                        </a:lnSpc>
                        <a:spcBef>
                          <a:spcPts val="1200"/>
                        </a:spcBef>
                        <a:spcAft>
                          <a:spcPts val="0"/>
                        </a:spcAft>
                        <a:buNone/>
                      </a:pPr>
                      <a:r>
                        <a:t/>
                      </a:r>
                      <a:endParaRPr sz="1100"/>
                    </a:p>
                  </a:txBody>
                  <a:tcPr marT="45725" marB="45725" marR="91450" marL="91450"/>
                </a:tc>
              </a:tr>
              <a:tr h="521525">
                <a:tc>
                  <a:txBody>
                    <a:bodyPr/>
                    <a:lstStyle/>
                    <a:p>
                      <a:pPr indent="0" lvl="0" marL="0" marR="0" rtl="0" algn="l">
                        <a:lnSpc>
                          <a:spcPct val="100000"/>
                        </a:lnSpc>
                        <a:spcBef>
                          <a:spcPts val="0"/>
                        </a:spcBef>
                        <a:spcAft>
                          <a:spcPts val="0"/>
                        </a:spcAft>
                        <a:buNone/>
                      </a:pPr>
                      <a:r>
                        <a:rPr lang="en-US" sz="900"/>
                        <a:t>Sweet, M. M. R., Ahmed, M. P., Mozumder, M. A. S., et al. (2024). Comparative Analysis of Machine Learning Techniques for Accurate Lung Cancer Prediction. The American Journal, 2024.</a:t>
                      </a:r>
                      <a:endParaRPr sz="9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200"/>
                        <a:t>Comparative analysis of machine learning techniques for lung cancer prediction using statistical and ensemble methods.</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100"/>
                        <a:t>Highlighted the superior performance of ensemble methods like XGBoost.</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100"/>
                        <a:t>Did not explore explainability deeply; lacked comparative integration with DL and QML approaches.</a:t>
                      </a:r>
                      <a:endParaRPr sz="1100" u="none" cap="none" strike="noStrike"/>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aphicFrame>
        <p:nvGraphicFramePr>
          <p:cNvPr id="94" name="Google Shape;94;g3c74f83c9d0_0_0"/>
          <p:cNvGraphicFramePr/>
          <p:nvPr/>
        </p:nvGraphicFramePr>
        <p:xfrm>
          <a:off x="95896" y="-178676"/>
          <a:ext cx="3000000" cy="3000000"/>
        </p:xfrm>
        <a:graphic>
          <a:graphicData uri="http://schemas.openxmlformats.org/drawingml/2006/table">
            <a:tbl>
              <a:tblPr bandRow="1" firstRow="1">
                <a:noFill/>
                <a:tableStyleId>{7C9DB00F-3452-4C47-8AEF-A293B3BBBB1B}</a:tableStyleId>
              </a:tblPr>
              <a:tblGrid>
                <a:gridCol w="2043950"/>
                <a:gridCol w="2481950"/>
                <a:gridCol w="2458900"/>
                <a:gridCol w="1959775"/>
              </a:tblGrid>
              <a:tr h="913400">
                <a:tc>
                  <a:txBody>
                    <a:bodyPr/>
                    <a:lstStyle/>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p>
                    <a:p>
                      <a:pPr indent="0" lvl="0" marL="0" marR="0" rtl="0" algn="l">
                        <a:lnSpc>
                          <a:spcPct val="100000"/>
                        </a:lnSpc>
                        <a:spcBef>
                          <a:spcPts val="0"/>
                        </a:spcBef>
                        <a:spcAft>
                          <a:spcPts val="0"/>
                        </a:spcAft>
                        <a:buClr>
                          <a:srgbClr val="000000"/>
                        </a:buClr>
                        <a:buSzPts val="1400"/>
                        <a:buFont typeface="Arial"/>
                        <a:buNone/>
                      </a:pPr>
                      <a:r>
                        <a:rPr b="1" lang="en-US" sz="1400" u="none" cap="none" strike="noStrike"/>
                        <a:t>Paper Details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None/>
                      </a:pPr>
                      <a:r>
                        <a:rPr lang="en-US" sz="1400" u="none" cap="none" strike="noStrike"/>
                        <a:t>Objective of paper, Techniques/Methods</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Key Contribution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Research Gap</a:t>
                      </a:r>
                      <a:endParaRPr sz="1400" u="none" cap="none" strike="noStrike"/>
                    </a:p>
                  </a:txBody>
                  <a:tcPr marT="45725" marB="45725" marR="91450" marL="91450" anchor="ctr"/>
                </a:tc>
              </a:tr>
              <a:tr h="432200">
                <a:tc>
                  <a:txBody>
                    <a:bodyPr/>
                    <a:lstStyle/>
                    <a:p>
                      <a:pPr indent="0" lvl="0" marL="0" marR="0" rtl="0" algn="l">
                        <a:lnSpc>
                          <a:spcPct val="100000"/>
                        </a:lnSpc>
                        <a:spcBef>
                          <a:spcPts val="0"/>
                        </a:spcBef>
                        <a:spcAft>
                          <a:spcPts val="0"/>
                        </a:spcAft>
                        <a:buNone/>
                      </a:pPr>
                      <a:r>
                        <a:rPr lang="en-US" sz="900"/>
                        <a:t>Huang, S., Arpaci, I., Al-Emran, M., Kılıçarslan, S., et al. (2023). A Comparative Analysis of Classical Machine Learning and Deep Learning Techniques for Predicting Lung Cancer Survivability. Multimedia Tools and Applications, 2023.</a:t>
                      </a:r>
                      <a:endParaRPr sz="9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100"/>
                        <a:t>Comparative analysis of classical ML and Deep Learning models for lung cancer survivability prediction.</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200"/>
                        <a:t>Showed deep learning can outperform classical ML in complex pattern detection.</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100"/>
                        <a:t>Focused on survivability rather than risk prediction; lacked full-stack system validation.</a:t>
                      </a:r>
                      <a:endParaRPr sz="1100" u="none" cap="none" strike="noStrike"/>
                    </a:p>
                  </a:txBody>
                  <a:tcPr marT="45725" marB="45725" marR="91450" marL="91450"/>
                </a:tc>
              </a:tr>
              <a:tr h="1014150">
                <a:tc>
                  <a:txBody>
                    <a:bodyPr/>
                    <a:lstStyle/>
                    <a:p>
                      <a:pPr indent="0" lvl="0" marL="0" rtl="0" algn="l">
                        <a:lnSpc>
                          <a:spcPct val="115000"/>
                        </a:lnSpc>
                        <a:spcBef>
                          <a:spcPts val="1200"/>
                        </a:spcBef>
                        <a:spcAft>
                          <a:spcPts val="0"/>
                        </a:spcAft>
                        <a:buClr>
                          <a:schemeClr val="dk1"/>
                        </a:buClr>
                        <a:buSzPts val="1100"/>
                        <a:buFont typeface="Arial"/>
                        <a:buNone/>
                      </a:pPr>
                      <a:r>
                        <a:rPr lang="en-US" sz="900"/>
                        <a:t>B. Dutta. “Comparative Analysis of Machine Learning and Deep Learning Models for Lung Cancer Prediction Based on Symptomatic and Lifestyle Features.” Applied Sciences (MDPI), 2025</a:t>
                      </a:r>
                      <a:r>
                        <a:rPr b="1" lang="en-US" sz="1100"/>
                        <a:t>.</a:t>
                      </a:r>
                      <a:endParaRPr b="1" sz="1100"/>
                    </a:p>
                    <a:p>
                      <a:pPr indent="0" lvl="0" marL="0" marR="0" rtl="0" algn="l">
                        <a:lnSpc>
                          <a:spcPct val="100000"/>
                        </a:lnSpc>
                        <a:spcBef>
                          <a:spcPts val="1200"/>
                        </a:spcBef>
                        <a:spcAft>
                          <a:spcPts val="0"/>
                        </a:spcAft>
                        <a:buNone/>
                      </a:pPr>
                      <a:r>
                        <a:t/>
                      </a:r>
                      <a:endParaRPr sz="1000"/>
                    </a:p>
                  </a:txBody>
                  <a:tcPr marT="45725" marB="45725" marR="91450" marL="91450"/>
                </a:tc>
                <a:tc>
                  <a:txBody>
                    <a:bodyPr/>
                    <a:lstStyle/>
                    <a:p>
                      <a:pPr indent="0" lvl="0" marL="0" marR="0" rtl="0" algn="l">
                        <a:lnSpc>
                          <a:spcPct val="100000"/>
                        </a:lnSpc>
                        <a:spcBef>
                          <a:spcPts val="0"/>
                        </a:spcBef>
                        <a:spcAft>
                          <a:spcPts val="0"/>
                        </a:spcAft>
                        <a:buNone/>
                      </a:pPr>
                      <a:r>
                        <a:rPr lang="en-US" sz="1100"/>
                        <a:t>Systematic comparison of ML and DL models based on symptomatic and lifestyle features.</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100"/>
                        <a:t>Demonstrated improved predictive accuracy using neural network models.</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100"/>
                        <a:t>Did not include quantum ML or unified evaluation across all model types.</a:t>
                      </a:r>
                      <a:endParaRPr sz="1100" u="none" cap="none" strike="noStrike"/>
                    </a:p>
                  </a:txBody>
                  <a:tcPr marT="45725" marB="45725" marR="91450" marL="91450"/>
                </a:tc>
              </a:tr>
              <a:tr h="432200">
                <a:tc>
                  <a:txBody>
                    <a:bodyPr/>
                    <a:lstStyle/>
                    <a:p>
                      <a:pPr indent="0" lvl="0" marL="0" marR="0" rtl="0" algn="l">
                        <a:lnSpc>
                          <a:spcPct val="100000"/>
                        </a:lnSpc>
                        <a:spcBef>
                          <a:spcPts val="0"/>
                        </a:spcBef>
                        <a:spcAft>
                          <a:spcPts val="0"/>
                        </a:spcAft>
                        <a:buNone/>
                      </a:pPr>
                      <a:r>
                        <a:rPr lang="en-US" sz="1000"/>
                        <a:t>P. R. Radhika, R. A. S. Nair, and G. Veena. “A Comparative Study of Lung Cancer Detection Using Machine Learning Algorithms.” 2019 IEEE International Conference on Intelligent Computing and Control Systems (ICCS), 2023</a:t>
                      </a:r>
                      <a:endParaRPr sz="10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200"/>
                        <a:t>Comparative study of classical ML algorithms for lung cancer detection.</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200"/>
                        <a:t>Established baseline ML performance benchmarks.</a:t>
                      </a:r>
                      <a:endParaRPr sz="1200" u="none" cap="none" strike="noStrike"/>
                    </a:p>
                  </a:txBody>
                  <a:tcPr marT="45725" marB="45725" marR="91450" marL="91450"/>
                </a:tc>
                <a:tc>
                  <a:txBody>
                    <a:bodyPr/>
                    <a:lstStyle/>
                    <a:p>
                      <a:pPr indent="0" lvl="0" marL="0" rtl="0" algn="l">
                        <a:lnSpc>
                          <a:spcPct val="115000"/>
                        </a:lnSpc>
                        <a:spcBef>
                          <a:spcPts val="1200"/>
                        </a:spcBef>
                        <a:spcAft>
                          <a:spcPts val="0"/>
                        </a:spcAft>
                        <a:buClr>
                          <a:schemeClr val="dk1"/>
                        </a:buClr>
                        <a:buSzPts val="1100"/>
                        <a:buFont typeface="Arial"/>
                        <a:buNone/>
                      </a:pPr>
                      <a:r>
                        <a:rPr lang="en-US" sz="1200"/>
                        <a:t>Outdated methods; no deep learning, explainability, or quantum ML exploration.</a:t>
                      </a:r>
                      <a:endParaRPr sz="1200"/>
                    </a:p>
                    <a:p>
                      <a:pPr indent="0" lvl="0" marL="0" marR="0" rtl="0" algn="l">
                        <a:lnSpc>
                          <a:spcPct val="100000"/>
                        </a:lnSpc>
                        <a:spcBef>
                          <a:spcPts val="1200"/>
                        </a:spcBef>
                        <a:spcAft>
                          <a:spcPts val="0"/>
                        </a:spcAft>
                        <a:buNone/>
                      </a:pPr>
                      <a:r>
                        <a:t/>
                      </a:r>
                      <a:endParaRPr sz="1200"/>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nvSpPr>
        <p:spPr>
          <a:xfrm>
            <a:off x="633450" y="993725"/>
            <a:ext cx="7347900" cy="3901800"/>
          </a:xfrm>
          <a:prstGeom prst="rect">
            <a:avLst/>
          </a:prstGeom>
          <a:noFill/>
          <a:ln>
            <a:noFill/>
          </a:ln>
        </p:spPr>
        <p:txBody>
          <a:bodyPr anchorCtr="0" anchor="t" bIns="91425" lIns="91425" spcFirstLastPara="1" rIns="91425" wrap="square" tIns="91425">
            <a:spAutoFit/>
          </a:bodyPr>
          <a:lstStyle/>
          <a:p>
            <a:pPr indent="-266700" lvl="0" marL="285750" marR="0" rtl="0" algn="just">
              <a:lnSpc>
                <a:spcPct val="150000"/>
              </a:lnSpc>
              <a:spcBef>
                <a:spcPts val="0"/>
              </a:spcBef>
              <a:spcAft>
                <a:spcPts val="0"/>
              </a:spcAft>
              <a:buClr>
                <a:srgbClr val="000000"/>
              </a:buClr>
              <a:buSzPts val="2200"/>
              <a:buFont typeface="Arial"/>
              <a:buChar char="•"/>
            </a:pPr>
            <a:r>
              <a:rPr lang="en-US" sz="1500"/>
              <a:t>Early identification of individuals at high risk of lung cancer remains a significant challenge due to the influence of multiple factors such as age, smoking habits, occupational exposure, and family history. Accurate risk prediction requires analyzing complex and multi-dimensional healthcare data.</a:t>
            </a:r>
            <a:endParaRPr sz="1100"/>
          </a:p>
          <a:p>
            <a:pPr indent="-266700" lvl="0" marL="285750" marR="0" rtl="0" algn="just">
              <a:lnSpc>
                <a:spcPct val="150000"/>
              </a:lnSpc>
              <a:spcBef>
                <a:spcPts val="0"/>
              </a:spcBef>
              <a:spcAft>
                <a:spcPts val="0"/>
              </a:spcAft>
              <a:buClr>
                <a:srgbClr val="000000"/>
              </a:buClr>
              <a:buSzPts val="2200"/>
              <a:buFont typeface="Arial"/>
              <a:buChar char="•"/>
            </a:pPr>
            <a:r>
              <a:rPr lang="en-US" sz="1500"/>
              <a:t>Although existing machine learning models have been applied to lung cancer risk prediction, their performance varies across different datasets and evaluation metrics. Most studies focus on a single modeling approach, and there is limited comparative analysis between traditional machine learning, deep learning, and emerging quantum machine learning (QML/QNN) techniques. </a:t>
            </a:r>
            <a:endParaRPr sz="1100"/>
          </a:p>
          <a:p>
            <a:pPr indent="0" lvl="0" marL="457200" marR="0" rtl="0" algn="just">
              <a:lnSpc>
                <a:spcPct val="150000"/>
              </a:lnSpc>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00" name="Google Shape;100;p6"/>
          <p:cNvSpPr/>
          <p:nvPr/>
        </p:nvSpPr>
        <p:spPr>
          <a:xfrm>
            <a:off x="2329125" y="278676"/>
            <a:ext cx="4417800" cy="5694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2200" u="none" cap="none" strike="noStrike">
                <a:solidFill>
                  <a:srgbClr val="D7AC54"/>
                </a:solidFill>
                <a:latin typeface="Cantarell"/>
                <a:ea typeface="Cantarell"/>
                <a:cs typeface="Cantarell"/>
                <a:sym typeface="Cantarell"/>
              </a:rPr>
              <a:t>Problem statement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bdabd06b18_0_18"/>
          <p:cNvSpPr txBox="1"/>
          <p:nvPr/>
        </p:nvSpPr>
        <p:spPr>
          <a:xfrm>
            <a:off x="425100" y="1167275"/>
            <a:ext cx="7703400" cy="3194100"/>
          </a:xfrm>
          <a:prstGeom prst="rect">
            <a:avLst/>
          </a:prstGeom>
          <a:noFill/>
          <a:ln>
            <a:noFill/>
          </a:ln>
        </p:spPr>
        <p:txBody>
          <a:bodyPr anchorCtr="0" anchor="t" bIns="91425" lIns="91425" spcFirstLastPara="1" rIns="91425" wrap="square" tIns="91425">
            <a:noAutofit/>
          </a:bodyPr>
          <a:lstStyle/>
          <a:p>
            <a:pPr indent="-323850" lvl="0" marL="457200" rtl="0" algn="just">
              <a:lnSpc>
                <a:spcPct val="150000"/>
              </a:lnSpc>
              <a:spcBef>
                <a:spcPts val="0"/>
              </a:spcBef>
              <a:spcAft>
                <a:spcPts val="0"/>
              </a:spcAft>
              <a:buClr>
                <a:schemeClr val="dk1"/>
              </a:buClr>
              <a:buSzPts val="1500"/>
              <a:buChar char="•"/>
            </a:pPr>
            <a:r>
              <a:rPr lang="en-US" sz="1500">
                <a:solidFill>
                  <a:schemeClr val="dk1"/>
                </a:solidFill>
              </a:rPr>
              <a:t>Additionally, many existing systems lack an integrated, user-accessible framework for systematic evaluation and deployment.</a:t>
            </a:r>
            <a:endParaRPr sz="1800">
              <a:solidFill>
                <a:schemeClr val="dk1"/>
              </a:solidFill>
            </a:endParaRPr>
          </a:p>
          <a:p>
            <a:pPr indent="-266700" lvl="0" marL="285750" rtl="0" algn="just">
              <a:lnSpc>
                <a:spcPct val="150000"/>
              </a:lnSpc>
              <a:spcBef>
                <a:spcPts val="0"/>
              </a:spcBef>
              <a:spcAft>
                <a:spcPts val="0"/>
              </a:spcAft>
              <a:buClr>
                <a:schemeClr val="dk1"/>
              </a:buClr>
              <a:buSzPts val="2200"/>
              <a:buChar char="•"/>
            </a:pPr>
            <a:r>
              <a:rPr lang="en-US" sz="1500">
                <a:solidFill>
                  <a:schemeClr val="dk1"/>
                </a:solidFill>
              </a:rPr>
              <a:t>To address these limitations, this project proposes a unified full-stack lung cancer risk prediction system that systematically evaluates and compares classical machine learning, deep learning, and quantum machine learning models using structured healthcare data. </a:t>
            </a:r>
            <a:endParaRPr sz="1500">
              <a:solidFill>
                <a:schemeClr val="dk1"/>
              </a:solidFill>
            </a:endParaRPr>
          </a:p>
          <a:p>
            <a:pPr indent="-266700" lvl="0" marL="285750" rtl="0" algn="just">
              <a:lnSpc>
                <a:spcPct val="150000"/>
              </a:lnSpc>
              <a:spcBef>
                <a:spcPts val="0"/>
              </a:spcBef>
              <a:spcAft>
                <a:spcPts val="0"/>
              </a:spcAft>
              <a:buClr>
                <a:schemeClr val="dk1"/>
              </a:buClr>
              <a:buSzPts val="2200"/>
              <a:buChar char="•"/>
            </a:pPr>
            <a:r>
              <a:rPr lang="en-US" sz="1500">
                <a:solidFill>
                  <a:schemeClr val="dk1"/>
                </a:solidFill>
              </a:rPr>
              <a:t>The novelty of this work lies in providing a comprehensive comparative framework along with an end-to-end implementation that enables practical evaluation and performance analysis of advanced predictive techniques.</a:t>
            </a:r>
            <a:endParaRPr sz="15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7"/>
          <p:cNvSpPr txBox="1"/>
          <p:nvPr/>
        </p:nvSpPr>
        <p:spPr>
          <a:xfrm>
            <a:off x="777400" y="972300"/>
            <a:ext cx="8216100" cy="32556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rPr lang="en-US" sz="1800"/>
              <a:t>Objectives:</a:t>
            </a:r>
            <a:endParaRPr sz="1800"/>
          </a:p>
          <a:p>
            <a:pPr indent="-323850" lvl="0" marL="457200" rtl="0" algn="just">
              <a:lnSpc>
                <a:spcPct val="150000"/>
              </a:lnSpc>
              <a:spcBef>
                <a:spcPts val="0"/>
              </a:spcBef>
              <a:spcAft>
                <a:spcPts val="0"/>
              </a:spcAft>
              <a:buSzPts val="1500"/>
              <a:buChar char="●"/>
            </a:pPr>
            <a:r>
              <a:rPr lang="en-US" sz="1500"/>
              <a:t>To apply lung cancer datasets on machine learning, deep learning, and quantum machine learning (QML/QNN) models.</a:t>
            </a:r>
            <a:endParaRPr sz="1500"/>
          </a:p>
          <a:p>
            <a:pPr indent="-323850" lvl="0" marL="457200" rtl="0" algn="just">
              <a:lnSpc>
                <a:spcPct val="150000"/>
              </a:lnSpc>
              <a:spcBef>
                <a:spcPts val="0"/>
              </a:spcBef>
              <a:spcAft>
                <a:spcPts val="0"/>
              </a:spcAft>
              <a:buSzPts val="1500"/>
              <a:buChar char="●"/>
            </a:pPr>
            <a:r>
              <a:rPr lang="en-US" sz="1500"/>
              <a:t>To preprocess and prepare healthcare data for effective model training and evaluation.</a:t>
            </a:r>
            <a:endParaRPr sz="1500"/>
          </a:p>
          <a:p>
            <a:pPr indent="-323850" lvl="0" marL="457200" rtl="0" algn="just">
              <a:lnSpc>
                <a:spcPct val="150000"/>
              </a:lnSpc>
              <a:spcBef>
                <a:spcPts val="0"/>
              </a:spcBef>
              <a:spcAft>
                <a:spcPts val="0"/>
              </a:spcAft>
              <a:buSzPts val="1500"/>
              <a:buChar char="●"/>
            </a:pPr>
            <a:r>
              <a:rPr lang="en-US" sz="1500"/>
              <a:t>To compare different models based on performance metrics such as accuracy and error rates.</a:t>
            </a:r>
            <a:endParaRPr sz="1500"/>
          </a:p>
          <a:p>
            <a:pPr indent="-323850" lvl="0" marL="457200" rtl="0" algn="just">
              <a:lnSpc>
                <a:spcPct val="150000"/>
              </a:lnSpc>
              <a:spcBef>
                <a:spcPts val="0"/>
              </a:spcBef>
              <a:spcAft>
                <a:spcPts val="0"/>
              </a:spcAft>
              <a:buSzPts val="1500"/>
              <a:buChar char="●"/>
            </a:pPr>
            <a:r>
              <a:rPr lang="en-US" sz="1500"/>
              <a:t>To analyze model behavior using feature importance and interpretability techniques.</a:t>
            </a:r>
            <a:endParaRPr sz="1500"/>
          </a:p>
          <a:p>
            <a:pPr indent="-323850" lvl="0" marL="457200" rtl="0" algn="just">
              <a:lnSpc>
                <a:spcPct val="150000"/>
              </a:lnSpc>
              <a:spcBef>
                <a:spcPts val="0"/>
              </a:spcBef>
              <a:spcAft>
                <a:spcPts val="0"/>
              </a:spcAft>
              <a:buSzPts val="1500"/>
              <a:buChar char="●"/>
            </a:pPr>
            <a:r>
              <a:rPr lang="en-US" sz="1500"/>
              <a:t>To enable the complete system through a full-stack architecture.</a:t>
            </a:r>
            <a:endParaRPr sz="1500"/>
          </a:p>
          <a:p>
            <a:pPr indent="-323850" lvl="0" marL="457200" rtl="0" algn="just">
              <a:lnSpc>
                <a:spcPct val="150000"/>
              </a:lnSpc>
              <a:spcBef>
                <a:spcPts val="0"/>
              </a:spcBef>
              <a:spcAft>
                <a:spcPts val="0"/>
              </a:spcAft>
              <a:buSzPts val="1500"/>
              <a:buChar char="●"/>
            </a:pPr>
            <a:r>
              <a:rPr lang="en-US" sz="1500"/>
              <a:t>To develop a simple web-based GUI for user input and visualization of prediction results.</a:t>
            </a:r>
            <a:endParaRPr b="0" i="0" sz="1700" u="none" cap="none" strike="noStrike">
              <a:solidFill>
                <a:srgbClr val="000000"/>
              </a:solidFill>
              <a:latin typeface="Arial"/>
              <a:ea typeface="Arial"/>
              <a:cs typeface="Arial"/>
              <a:sym typeface="Arial"/>
            </a:endParaRPr>
          </a:p>
        </p:txBody>
      </p:sp>
      <p:sp>
        <p:nvSpPr>
          <p:cNvPr id="111" name="Google Shape;111;p7"/>
          <p:cNvSpPr/>
          <p:nvPr/>
        </p:nvSpPr>
        <p:spPr>
          <a:xfrm>
            <a:off x="2329125" y="204700"/>
            <a:ext cx="4644000" cy="6435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i="0" lang="en-US" sz="2200" u="none" cap="none" strike="noStrike">
                <a:solidFill>
                  <a:srgbClr val="D7AC54"/>
                </a:solidFill>
                <a:latin typeface="Cantarell"/>
                <a:ea typeface="Cantarell"/>
                <a:cs typeface="Cantarell"/>
                <a:sym typeface="Cantarell"/>
              </a:rPr>
              <a:t>Objectives and Expected Outcomes </a:t>
            </a:r>
            <a:endParaRPr b="1" i="0" sz="2200" u="none" cap="none" strike="noStrike">
              <a:solidFill>
                <a:srgbClr val="D7AC54"/>
              </a:solidFill>
              <a:latin typeface="Cantarell"/>
              <a:ea typeface="Cantarell"/>
              <a:cs typeface="Cantarell"/>
              <a:sym typeface="Cantare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bdabd06b18_0_25"/>
          <p:cNvSpPr txBox="1"/>
          <p:nvPr/>
        </p:nvSpPr>
        <p:spPr>
          <a:xfrm>
            <a:off x="425100" y="1167275"/>
            <a:ext cx="8337600" cy="33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chemeClr val="dk2"/>
                </a:solidFill>
              </a:rPr>
              <a:t>Expected Outcomes:</a:t>
            </a:r>
            <a:endParaRPr b="1" sz="1700">
              <a:solidFill>
                <a:schemeClr val="dk2"/>
              </a:solidFill>
            </a:endParaRPr>
          </a:p>
          <a:p>
            <a:pPr indent="-330200" lvl="0" marL="457200" rtl="0" algn="l">
              <a:spcBef>
                <a:spcPts val="0"/>
              </a:spcBef>
              <a:spcAft>
                <a:spcPts val="0"/>
              </a:spcAft>
              <a:buClr>
                <a:schemeClr val="dk2"/>
              </a:buClr>
              <a:buSzPts val="1600"/>
              <a:buChar char="●"/>
            </a:pPr>
            <a:r>
              <a:rPr lang="en-US" sz="1600">
                <a:solidFill>
                  <a:schemeClr val="dk2"/>
                </a:solidFill>
              </a:rPr>
              <a:t>Comparative analysis of ML, DL, and QML/QNN models for lung cancer risk prediction.</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n-US" sz="1600">
                <a:solidFill>
                  <a:schemeClr val="dk2"/>
                </a:solidFill>
              </a:rPr>
              <a:t>Identification of the most reliable model based on accuracy, false positives, and stability.</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n-US" sz="1600">
                <a:solidFill>
                  <a:schemeClr val="dk2"/>
                </a:solidFill>
              </a:rPr>
              <a:t>Objective model evaluation using standard performance metrics and explainability</a:t>
            </a:r>
            <a:endParaRPr sz="1600">
              <a:solidFill>
                <a:schemeClr val="dk2"/>
              </a:solidFill>
            </a:endParaRPr>
          </a:p>
          <a:p>
            <a:pPr indent="0" lvl="0" marL="0" rtl="0" algn="l">
              <a:spcBef>
                <a:spcPts val="0"/>
              </a:spcBef>
              <a:spcAft>
                <a:spcPts val="0"/>
              </a:spcAft>
              <a:buClr>
                <a:schemeClr val="dk1"/>
              </a:buClr>
              <a:buSzPts val="1100"/>
              <a:buFont typeface="Arial"/>
              <a:buNone/>
            </a:pPr>
            <a:r>
              <a:rPr lang="en-US" sz="1600">
                <a:solidFill>
                  <a:schemeClr val="dk2"/>
                </a:solidFill>
              </a:rPr>
              <a:t>        methods.</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317500" lvl="0" marL="457200" rtl="0" algn="l">
              <a:spcBef>
                <a:spcPts val="0"/>
              </a:spcBef>
              <a:spcAft>
                <a:spcPts val="0"/>
              </a:spcAft>
              <a:buClr>
                <a:schemeClr val="dk2"/>
              </a:buClr>
              <a:buSzPts val="1400"/>
              <a:buChar char="●"/>
            </a:pPr>
            <a:r>
              <a:rPr lang="en-US" sz="1600">
                <a:solidFill>
                  <a:schemeClr val="dk2"/>
                </a:solidFill>
              </a:rPr>
              <a:t>A working full-stack web prototype demonstrating lung cancer risk prediction</a:t>
            </a:r>
            <a:r>
              <a:rPr b="1" lang="en-US" sz="1700">
                <a:solidFill>
                  <a:schemeClr val="dk2"/>
                </a:solidFill>
              </a:rPr>
              <a:t>.</a:t>
            </a:r>
            <a:endParaRPr b="1" sz="1700">
              <a:solidFill>
                <a:schemeClr val="dk2"/>
              </a:solidFill>
            </a:endParaRPr>
          </a:p>
          <a:p>
            <a:pPr indent="0" lvl="0" marL="0" rtl="0" algn="l">
              <a:spcBef>
                <a:spcPts val="0"/>
              </a:spcBef>
              <a:spcAft>
                <a:spcPts val="0"/>
              </a:spcAft>
              <a:buNone/>
            </a:pPr>
            <a:r>
              <a:t/>
            </a:r>
            <a:endParaRPr b="1" sz="17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nvSpPr>
        <p:spPr>
          <a:xfrm>
            <a:off x="739150" y="848200"/>
            <a:ext cx="7347900" cy="374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US" sz="1500"/>
              <a:t>Software requirement:</a:t>
            </a:r>
            <a:endParaRPr b="1" sz="1500"/>
          </a:p>
          <a:p>
            <a:pPr indent="-298450" lvl="0" marL="457200" rtl="0" algn="l">
              <a:spcBef>
                <a:spcPts val="0"/>
              </a:spcBef>
              <a:spcAft>
                <a:spcPts val="0"/>
              </a:spcAft>
              <a:buClr>
                <a:schemeClr val="dk1"/>
              </a:buClr>
              <a:buSzPts val="1100"/>
              <a:buChar char="●"/>
            </a:pPr>
            <a:r>
              <a:rPr b="1" lang="en-US" sz="1100">
                <a:solidFill>
                  <a:schemeClr val="dk1"/>
                </a:solidFill>
              </a:rPr>
              <a:t>Operating System</a:t>
            </a:r>
            <a:r>
              <a:rPr lang="en-US" sz="1100">
                <a:solidFill>
                  <a:schemeClr val="dk1"/>
                </a:solidFill>
              </a:rPr>
              <a:t> – Windows 10/11, Linux, or macOS.</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Programming Language</a:t>
            </a:r>
            <a:r>
              <a:rPr lang="en-US" sz="1100">
                <a:solidFill>
                  <a:schemeClr val="dk1"/>
                </a:solidFill>
              </a:rPr>
              <a:t> – Python 3.x for backend development, machine learning model training, and prediction logic.</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Development Environment</a:t>
            </a:r>
            <a:r>
              <a:rPr lang="en-US" sz="1100">
                <a:solidFill>
                  <a:schemeClr val="dk1"/>
                </a:solidFill>
              </a:rPr>
              <a:t> – Google Colab / Jupyter Notebook / Anaconda / VS Code / PyCharm.</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Web Framework</a:t>
            </a:r>
            <a:r>
              <a:rPr lang="en-US" sz="1100">
                <a:solidFill>
                  <a:schemeClr val="dk1"/>
                </a:solidFill>
              </a:rPr>
              <a:t> – Flask for handling HTTP requests, routing, backend logic, and rendering templates.</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Frontend Technologies</a:t>
            </a:r>
            <a:r>
              <a:rPr lang="en-US" sz="1100">
                <a:solidFill>
                  <a:schemeClr val="dk1"/>
                </a:solidFill>
              </a:rPr>
              <a:t> – HTML for UI structure and CSS for styling the web interface.</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Templating Engine</a:t>
            </a:r>
            <a:r>
              <a:rPr lang="en-US" sz="1100">
                <a:solidFill>
                  <a:schemeClr val="dk1"/>
                </a:solidFill>
              </a:rPr>
              <a:t> – Jinja2 (built-in with Flask) for rendering dynamic HTML pages.</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Data Processing Libraries</a:t>
            </a:r>
            <a:r>
              <a:rPr lang="en-US" sz="1100">
                <a:solidFill>
                  <a:schemeClr val="dk1"/>
                </a:solidFill>
              </a:rPr>
              <a:t> – NumPy and Pandas for numerical operations, dataset handling, cleaning, and preprocessing.</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Machine Learning Library</a:t>
            </a:r>
            <a:r>
              <a:rPr lang="en-US" sz="1100">
                <a:solidFill>
                  <a:schemeClr val="dk1"/>
                </a:solidFill>
              </a:rPr>
              <a:t> – Scikit-learn for model training and evaluation (Decision Tree, Random Forest, KNN, SVM, Naïve Bayes, Train-Test Split, StandardScaler, LabelEncoder, Accuracy Score, Confusion Matrix, Classification Report).</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Deep Learning Framework</a:t>
            </a:r>
            <a:r>
              <a:rPr lang="en-US" sz="1100">
                <a:solidFill>
                  <a:schemeClr val="dk1"/>
                </a:solidFill>
              </a:rPr>
              <a:t> – TensorFlow and Keras (Sequential model and Dense layers).</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Quantum machine learning:</a:t>
            </a:r>
            <a:r>
              <a:rPr lang="en-US" sz="1100">
                <a:solidFill>
                  <a:schemeClr val="dk1"/>
                </a:solidFill>
              </a:rPr>
              <a:t>IBM Qiskit </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Model &amp; Environment Management</a:t>
            </a:r>
            <a:r>
              <a:rPr lang="en-US" sz="1100">
                <a:solidFill>
                  <a:schemeClr val="dk1"/>
                </a:solidFill>
              </a:rPr>
              <a:t> – Pickle for saving/loading the trained model and Virtual Environment (.venv) with pip/Anaconda for dependency management.</a:t>
            </a:r>
            <a:endParaRPr sz="1100">
              <a:solidFill>
                <a:schemeClr val="dk1"/>
              </a:solidFill>
            </a:endParaRPr>
          </a:p>
          <a:p>
            <a:pPr indent="0" lvl="0" marL="0" marR="0" rtl="0" algn="l">
              <a:lnSpc>
                <a:spcPct val="100000"/>
              </a:lnSpc>
              <a:spcBef>
                <a:spcPts val="0"/>
              </a:spcBef>
              <a:spcAft>
                <a:spcPts val="0"/>
              </a:spcAft>
              <a:buNone/>
            </a:pPr>
            <a:r>
              <a:t/>
            </a:r>
            <a:endParaRPr b="1" sz="1500"/>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22" name="Google Shape;122;p8"/>
          <p:cNvSpPr/>
          <p:nvPr/>
        </p:nvSpPr>
        <p:spPr>
          <a:xfrm>
            <a:off x="2329125" y="204700"/>
            <a:ext cx="4644000" cy="6435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2200" u="none" cap="none" strike="noStrike">
                <a:solidFill>
                  <a:srgbClr val="D7AC54"/>
                </a:solidFill>
                <a:latin typeface="Cantarell"/>
                <a:ea typeface="Cantarell"/>
                <a:cs typeface="Cantarell"/>
                <a:sym typeface="Cantarell"/>
              </a:rPr>
              <a:t>System Requirement Specification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bdabd06b18_0_33"/>
          <p:cNvSpPr txBox="1"/>
          <p:nvPr/>
        </p:nvSpPr>
        <p:spPr>
          <a:xfrm>
            <a:off x="260700" y="1002875"/>
            <a:ext cx="8584200" cy="3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chemeClr val="dk1"/>
                </a:solidFill>
              </a:rPr>
              <a:t>Hardware</a:t>
            </a:r>
            <a:r>
              <a:rPr b="1" lang="en-US" sz="1500">
                <a:solidFill>
                  <a:schemeClr val="dk1"/>
                </a:solidFill>
              </a:rPr>
              <a:t> requirement:</a:t>
            </a:r>
            <a:endParaRPr b="1" sz="1500">
              <a:solidFill>
                <a:schemeClr val="dk1"/>
              </a:solidFill>
            </a:endParaRPr>
          </a:p>
          <a:p>
            <a:pPr indent="-311150" lvl="0" marL="457200" rtl="0" algn="l">
              <a:spcBef>
                <a:spcPts val="0"/>
              </a:spcBef>
              <a:spcAft>
                <a:spcPts val="0"/>
              </a:spcAft>
              <a:buClr>
                <a:schemeClr val="dk1"/>
              </a:buClr>
              <a:buSzPts val="1300"/>
              <a:buChar char="●"/>
            </a:pPr>
            <a:r>
              <a:rPr b="1" lang="en-US" sz="1300">
                <a:solidFill>
                  <a:schemeClr val="dk1"/>
                </a:solidFill>
              </a:rPr>
              <a:t>Processor (CPU)</a:t>
            </a:r>
            <a:r>
              <a:rPr lang="en-US" sz="1300">
                <a:solidFill>
                  <a:schemeClr val="dk1"/>
                </a:solidFill>
              </a:rPr>
              <a:t> – Minimum Intel Core i3 / AMD Ryzen 3; Recommended Intel Core i5/i7 or AMD Ryzen 5/7 for faster ML model training.</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solidFill>
                  <a:schemeClr val="dk1"/>
                </a:solidFill>
              </a:rPr>
              <a:t>RAM (Memory)</a:t>
            </a:r>
            <a:r>
              <a:rPr lang="en-US" sz="1300">
                <a:solidFill>
                  <a:schemeClr val="dk1"/>
                </a:solidFill>
              </a:rPr>
              <a:t> – Minimum 4 GB; Recommended 8 GB or higher for smooth execution of machine learning and deep learning models.</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solidFill>
                  <a:schemeClr val="dk1"/>
                </a:solidFill>
              </a:rPr>
              <a:t>Storage</a:t>
            </a:r>
            <a:r>
              <a:rPr lang="en-US" sz="1300">
                <a:solidFill>
                  <a:schemeClr val="dk1"/>
                </a:solidFill>
              </a:rPr>
              <a:t> – Minimum 20 GB free space; SSD recommended for better performance and faster data processing.</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solidFill>
                  <a:schemeClr val="dk1"/>
                </a:solidFill>
              </a:rPr>
              <a:t>Graphics Support (Optional)</a:t>
            </a:r>
            <a:r>
              <a:rPr lang="en-US" sz="1300">
                <a:solidFill>
                  <a:schemeClr val="dk1"/>
                </a:solidFill>
              </a:rPr>
              <a:t> – Integrated graphics sufficient for ML; T4 GPU within Google colab support recommended for deep learning tasks.</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solidFill>
                  <a:schemeClr val="dk1"/>
                </a:solidFill>
              </a:rPr>
              <a:t>Internet Connection</a:t>
            </a:r>
            <a:r>
              <a:rPr lang="en-US" sz="1300">
                <a:solidFill>
                  <a:schemeClr val="dk1"/>
                </a:solidFill>
              </a:rPr>
              <a:t> – Required for Google Colab usage, downloading datasets, and installing libraries.</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solidFill>
                  <a:schemeClr val="dk1"/>
                </a:solidFill>
              </a:rPr>
              <a:t>System Type</a:t>
            </a:r>
            <a:r>
              <a:rPr lang="en-US" sz="1300">
                <a:solidFill>
                  <a:schemeClr val="dk1"/>
                </a:solidFill>
              </a:rPr>
              <a:t> – 64-bit operating system recommended for compatibility with Python libraries and frameworks.</a:t>
            </a:r>
            <a:endParaRPr sz="1300">
              <a:solidFill>
                <a:schemeClr val="dk1"/>
              </a:solidFill>
            </a:endParaRPr>
          </a:p>
          <a:p>
            <a:pPr indent="0" lvl="0" marL="0" rtl="0" algn="l">
              <a:spcBef>
                <a:spcPts val="0"/>
              </a:spcBef>
              <a:spcAft>
                <a:spcPts val="0"/>
              </a:spcAft>
              <a:buClr>
                <a:schemeClr val="dk1"/>
              </a:buClr>
              <a:buFont typeface="Arial"/>
              <a:buNone/>
            </a:pPr>
            <a:r>
              <a:t/>
            </a:r>
            <a:endParaRPr b="1" sz="1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nvSpPr>
        <p:spPr>
          <a:xfrm>
            <a:off x="1180214" y="1358723"/>
            <a:ext cx="7347900" cy="3586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b="1" lang="en-US" sz="1700"/>
              <a:t>ML Model Training in Google Colab:</a:t>
            </a:r>
            <a:endParaRPr b="1" sz="1700"/>
          </a:p>
          <a:p>
            <a:pPr indent="0" lvl="0" marL="0" marR="0" rtl="0" algn="just">
              <a:lnSpc>
                <a:spcPct val="100000"/>
              </a:lnSpc>
              <a:spcBef>
                <a:spcPts val="0"/>
              </a:spcBef>
              <a:spcAft>
                <a:spcPts val="0"/>
              </a:spcAft>
              <a:buNone/>
            </a:pPr>
            <a:r>
              <a:t/>
            </a:r>
            <a:endParaRPr b="1" sz="1700"/>
          </a:p>
          <a:p>
            <a:pPr indent="-298450" lvl="0" marL="457200" rtl="0" algn="just">
              <a:spcBef>
                <a:spcPts val="0"/>
              </a:spcBef>
              <a:spcAft>
                <a:spcPts val="0"/>
              </a:spcAft>
              <a:buClr>
                <a:schemeClr val="dk1"/>
              </a:buClr>
              <a:buSzPts val="1100"/>
              <a:buChar char="●"/>
            </a:pPr>
            <a:r>
              <a:rPr b="1" lang="en-US" sz="1100">
                <a:solidFill>
                  <a:schemeClr val="dk1"/>
                </a:solidFill>
              </a:rPr>
              <a:t>Dataset Loading and Inspection</a:t>
            </a:r>
            <a:endParaRPr b="1" sz="1100">
              <a:solidFill>
                <a:schemeClr val="dk1"/>
              </a:solidFill>
            </a:endParaRPr>
          </a:p>
          <a:p>
            <a:pPr indent="0" lvl="0" marL="457200" marR="0" rtl="0" algn="just">
              <a:lnSpc>
                <a:spcPct val="100000"/>
              </a:lnSpc>
              <a:spcBef>
                <a:spcPts val="0"/>
              </a:spcBef>
              <a:spcAft>
                <a:spcPts val="0"/>
              </a:spcAft>
              <a:buNone/>
            </a:pPr>
            <a:r>
              <a:rPr lang="en-US" sz="1100">
                <a:solidFill>
                  <a:schemeClr val="dk1"/>
                </a:solidFill>
              </a:rPr>
              <a:t>Upload </a:t>
            </a:r>
            <a:r>
              <a:rPr i="1" lang="en-US" sz="1100">
                <a:solidFill>
                  <a:schemeClr val="dk1"/>
                </a:solidFill>
              </a:rPr>
              <a:t>lungcancer.csv</a:t>
            </a:r>
            <a:r>
              <a:rPr lang="en-US" sz="1100">
                <a:solidFill>
                  <a:schemeClr val="dk1"/>
                </a:solidFill>
              </a:rPr>
              <a:t> to Google Colab, load it using Pandas, and perform initial exploration by checking dataset shape, column names, data types, and previewing the first few rows to understand features and the target variable.</a:t>
            </a:r>
            <a:endParaRPr sz="1100">
              <a:solidFill>
                <a:schemeClr val="dk1"/>
              </a:solidFill>
            </a:endParaRPr>
          </a:p>
          <a:p>
            <a:pPr indent="-298450" lvl="0" marL="457200" rtl="0" algn="just">
              <a:spcBef>
                <a:spcPts val="0"/>
              </a:spcBef>
              <a:spcAft>
                <a:spcPts val="0"/>
              </a:spcAft>
              <a:buClr>
                <a:schemeClr val="dk1"/>
              </a:buClr>
              <a:buSzPts val="1100"/>
              <a:buChar char="●"/>
            </a:pPr>
            <a:r>
              <a:rPr b="1" lang="en-US" sz="1100">
                <a:solidFill>
                  <a:schemeClr val="dk1"/>
                </a:solidFill>
              </a:rPr>
              <a:t>Data Preprocessing and Encoding</a:t>
            </a:r>
            <a:endParaRPr b="1" sz="1100">
              <a:solidFill>
                <a:schemeClr val="dk1"/>
              </a:solidFill>
            </a:endParaRPr>
          </a:p>
          <a:p>
            <a:pPr indent="0" lvl="0" marL="457200" marR="0" rtl="0" algn="just">
              <a:lnSpc>
                <a:spcPct val="100000"/>
              </a:lnSpc>
              <a:spcBef>
                <a:spcPts val="0"/>
              </a:spcBef>
              <a:spcAft>
                <a:spcPts val="0"/>
              </a:spcAft>
              <a:buNone/>
            </a:pPr>
            <a:r>
              <a:rPr lang="en-US" sz="1100">
                <a:solidFill>
                  <a:schemeClr val="dk1"/>
                </a:solidFill>
              </a:rPr>
              <a:t>Separate input features (X) and target variable (y). Encode categorical variables such as </a:t>
            </a:r>
            <a:r>
              <a:rPr lang="en-US" sz="1100">
                <a:solidFill>
                  <a:srgbClr val="188038"/>
                </a:solidFill>
                <a:latin typeface="Roboto Mono"/>
                <a:ea typeface="Roboto Mono"/>
                <a:cs typeface="Roboto Mono"/>
                <a:sym typeface="Roboto Mono"/>
              </a:rPr>
              <a:t>GENDER</a:t>
            </a:r>
            <a:r>
              <a:rPr lang="en-US" sz="1100">
                <a:solidFill>
                  <a:schemeClr val="dk1"/>
                </a:solidFill>
              </a:rPr>
              <a:t> using Label Encoding and convert the </a:t>
            </a:r>
            <a:r>
              <a:rPr lang="en-US" sz="1100">
                <a:solidFill>
                  <a:srgbClr val="188038"/>
                </a:solidFill>
                <a:latin typeface="Roboto Mono"/>
                <a:ea typeface="Roboto Mono"/>
                <a:cs typeface="Roboto Mono"/>
                <a:sym typeface="Roboto Mono"/>
              </a:rPr>
              <a:t>LUNG_CANCER</a:t>
            </a:r>
            <a:r>
              <a:rPr lang="en-US" sz="1100">
                <a:solidFill>
                  <a:schemeClr val="dk1"/>
                </a:solidFill>
              </a:rPr>
              <a:t> target variable into numerical format (0 = No, 1 = Yes) to prepare the data for machine learning models.</a:t>
            </a:r>
            <a:endParaRPr sz="1100">
              <a:solidFill>
                <a:schemeClr val="dk1"/>
              </a:solidFill>
            </a:endParaRPr>
          </a:p>
          <a:p>
            <a:pPr indent="-298450" lvl="0" marL="457200" rtl="0" algn="just">
              <a:spcBef>
                <a:spcPts val="0"/>
              </a:spcBef>
              <a:spcAft>
                <a:spcPts val="0"/>
              </a:spcAft>
              <a:buClr>
                <a:schemeClr val="dk1"/>
              </a:buClr>
              <a:buSzPts val="1100"/>
              <a:buChar char="●"/>
            </a:pPr>
            <a:r>
              <a:rPr b="1" lang="en-US" sz="1100">
                <a:solidFill>
                  <a:schemeClr val="dk1"/>
                </a:solidFill>
              </a:rPr>
              <a:t>Train-Test Split</a:t>
            </a:r>
            <a:endParaRPr b="1" sz="1100">
              <a:solidFill>
                <a:schemeClr val="dk1"/>
              </a:solidFill>
            </a:endParaRPr>
          </a:p>
          <a:p>
            <a:pPr indent="0" lvl="0" marL="457200" marR="0" rtl="0" algn="just">
              <a:lnSpc>
                <a:spcPct val="100000"/>
              </a:lnSpc>
              <a:spcBef>
                <a:spcPts val="0"/>
              </a:spcBef>
              <a:spcAft>
                <a:spcPts val="0"/>
              </a:spcAft>
              <a:buNone/>
            </a:pPr>
            <a:r>
              <a:rPr lang="en-US" sz="1100">
                <a:solidFill>
                  <a:schemeClr val="dk1"/>
                </a:solidFill>
              </a:rPr>
              <a:t>Split the dataset into training (80%) and testing (20%) sets using </a:t>
            </a:r>
            <a:r>
              <a:rPr lang="en-US" sz="1100">
                <a:solidFill>
                  <a:srgbClr val="188038"/>
                </a:solidFill>
                <a:latin typeface="Roboto Mono"/>
                <a:ea typeface="Roboto Mono"/>
                <a:cs typeface="Roboto Mono"/>
                <a:sym typeface="Roboto Mono"/>
              </a:rPr>
              <a:t>train_test_split()</a:t>
            </a:r>
            <a:r>
              <a:rPr lang="en-US" sz="1100">
                <a:solidFill>
                  <a:schemeClr val="dk1"/>
                </a:solidFill>
              </a:rPr>
              <a:t> with a fixed random state to ensure reproducibility and fair model evaluation.</a:t>
            </a:r>
            <a:endParaRPr sz="1100">
              <a:solidFill>
                <a:schemeClr val="dk1"/>
              </a:solidFill>
            </a:endParaRPr>
          </a:p>
          <a:p>
            <a:pPr indent="-298450" lvl="0" marL="457200" rtl="0" algn="just">
              <a:spcBef>
                <a:spcPts val="0"/>
              </a:spcBef>
              <a:spcAft>
                <a:spcPts val="0"/>
              </a:spcAft>
              <a:buClr>
                <a:schemeClr val="dk1"/>
              </a:buClr>
              <a:buSzPts val="1100"/>
              <a:buChar char="●"/>
            </a:pPr>
            <a:r>
              <a:rPr b="1" lang="en-US" sz="1100">
                <a:solidFill>
                  <a:schemeClr val="dk1"/>
                </a:solidFill>
              </a:rPr>
              <a:t>Feature Scaling</a:t>
            </a:r>
            <a:endParaRPr b="1" sz="1100">
              <a:solidFill>
                <a:schemeClr val="dk1"/>
              </a:solidFill>
            </a:endParaRPr>
          </a:p>
          <a:p>
            <a:pPr indent="0" lvl="0" marL="457200" rtl="0" algn="just">
              <a:spcBef>
                <a:spcPts val="0"/>
              </a:spcBef>
              <a:spcAft>
                <a:spcPts val="0"/>
              </a:spcAft>
              <a:buNone/>
            </a:pPr>
            <a:r>
              <a:rPr lang="en-US" sz="1100">
                <a:solidFill>
                  <a:schemeClr val="dk1"/>
                </a:solidFill>
              </a:rPr>
              <a:t>Apply </a:t>
            </a:r>
            <a:r>
              <a:rPr lang="en-US" sz="1100">
                <a:solidFill>
                  <a:srgbClr val="188038"/>
                </a:solidFill>
                <a:latin typeface="Roboto Mono"/>
                <a:ea typeface="Roboto Mono"/>
                <a:cs typeface="Roboto Mono"/>
                <a:sym typeface="Roboto Mono"/>
              </a:rPr>
              <a:t>StandardScaler</a:t>
            </a:r>
            <a:r>
              <a:rPr lang="en-US" sz="1100">
                <a:solidFill>
                  <a:schemeClr val="dk1"/>
                </a:solidFill>
              </a:rPr>
              <a:t> to standardize numerical features in both training and testing sets. This prevents features with larger values from dominating the model and improves performance for algorithms like KNN and SVM.</a:t>
            </a:r>
            <a:endParaRPr sz="1100">
              <a:solidFill>
                <a:schemeClr val="dk1"/>
              </a:solidFill>
            </a:endParaRPr>
          </a:p>
          <a:p>
            <a:pPr indent="0" lvl="0" marL="457200" rtl="0" algn="just">
              <a:spcBef>
                <a:spcPts val="0"/>
              </a:spcBef>
              <a:spcAft>
                <a:spcPts val="0"/>
              </a:spcAft>
              <a:buNone/>
            </a:pPr>
            <a:r>
              <a:t/>
            </a:r>
            <a:endParaRPr sz="1100">
              <a:solidFill>
                <a:schemeClr val="dk1"/>
              </a:solidFill>
            </a:endParaRPr>
          </a:p>
          <a:p>
            <a:pPr indent="0" lvl="0" marL="0" marR="0" rtl="0" algn="just">
              <a:lnSpc>
                <a:spcPct val="100000"/>
              </a:lnSpc>
              <a:spcBef>
                <a:spcPts val="0"/>
              </a:spcBef>
              <a:spcAft>
                <a:spcPts val="0"/>
              </a:spcAft>
              <a:buNone/>
            </a:pPr>
            <a:r>
              <a:rPr lang="en-US" sz="1100">
                <a:solidFill>
                  <a:schemeClr val="dk1"/>
                </a:solidFill>
              </a:rPr>
              <a:t>        </a:t>
            </a:r>
            <a:endParaRPr sz="1100">
              <a:solidFill>
                <a:schemeClr val="dk1"/>
              </a:solidFill>
            </a:endParaRPr>
          </a:p>
        </p:txBody>
      </p:sp>
      <p:sp>
        <p:nvSpPr>
          <p:cNvPr id="133" name="Google Shape;133;p9"/>
          <p:cNvSpPr/>
          <p:nvPr/>
        </p:nvSpPr>
        <p:spPr>
          <a:xfrm>
            <a:off x="2329125" y="204700"/>
            <a:ext cx="4644000" cy="6435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2200" u="none" cap="none" strike="noStrike">
                <a:solidFill>
                  <a:srgbClr val="D7AC54"/>
                </a:solidFill>
                <a:latin typeface="Cantarell"/>
                <a:ea typeface="Cantarell"/>
                <a:cs typeface="Cantarell"/>
                <a:sym typeface="Cantarell"/>
              </a:rPr>
              <a:t>Proposed Methodology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bdabd06b18_0_44"/>
          <p:cNvSpPr txBox="1"/>
          <p:nvPr/>
        </p:nvSpPr>
        <p:spPr>
          <a:xfrm>
            <a:off x="425100" y="1143775"/>
            <a:ext cx="8431500" cy="3346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Model Training and Performance Evaluation</a:t>
            </a:r>
            <a:br>
              <a:rPr b="1" lang="en-US" sz="1100">
                <a:solidFill>
                  <a:schemeClr val="dk1"/>
                </a:solidFill>
              </a:rPr>
            </a:br>
            <a:r>
              <a:rPr lang="en-US" sz="1100">
                <a:solidFill>
                  <a:schemeClr val="dk1"/>
                </a:solidFill>
              </a:rPr>
              <a:t> Train multiple classification models including K-Nearest Neighbors (KNN), Decision Tree, Random Forest, Gaussian Naive Bayes, and Support Vector Machine (SVM). Evaluate each model using:</a:t>
            </a:r>
            <a:endParaRPr sz="1100">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US" sz="1100">
                <a:solidFill>
                  <a:schemeClr val="dk1"/>
                </a:solidFill>
              </a:rPr>
              <a:t>Accuracy Score</a:t>
            </a:r>
            <a:br>
              <a:rPr lang="en-US" sz="1100">
                <a:solidFill>
                  <a:schemeClr val="dk1"/>
                </a:solidFill>
              </a:rPr>
            </a:br>
            <a:endParaRPr sz="1100">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US" sz="1100">
                <a:solidFill>
                  <a:schemeClr val="dk1"/>
                </a:solidFill>
              </a:rPr>
              <a:t>Confusion Matrix</a:t>
            </a:r>
            <a:br>
              <a:rPr lang="en-US" sz="1100">
                <a:solidFill>
                  <a:schemeClr val="dk1"/>
                </a:solidFill>
              </a:rPr>
            </a:br>
            <a:endParaRPr sz="1100">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US" sz="1100">
                <a:solidFill>
                  <a:schemeClr val="dk1"/>
                </a:solidFill>
              </a:rPr>
              <a:t>Classification Report (Precision, Recall, F1-Score)</a:t>
            </a:r>
            <a:br>
              <a:rPr lang="en-US" sz="1100">
                <a:solidFill>
                  <a:schemeClr val="dk1"/>
                </a:solidFill>
              </a:rPr>
            </a:br>
            <a:r>
              <a:rPr lang="en-US" sz="1100">
                <a:solidFill>
                  <a:schemeClr val="dk1"/>
                </a:solidFill>
              </a:rPr>
              <a:t> Compare results and identify the best-performing model.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Prediction and Result Analysis</a:t>
            </a:r>
            <a:endParaRPr b="1" sz="1100">
              <a:solidFill>
                <a:schemeClr val="dk1"/>
              </a:solidFill>
            </a:endParaRPr>
          </a:p>
          <a:p>
            <a:pPr indent="0" lvl="0" marL="457200" rtl="0" algn="l">
              <a:lnSpc>
                <a:spcPct val="115000"/>
              </a:lnSpc>
              <a:spcBef>
                <a:spcPts val="1200"/>
              </a:spcBef>
              <a:spcAft>
                <a:spcPts val="0"/>
              </a:spcAft>
              <a:buNone/>
            </a:pPr>
            <a:r>
              <a:rPr lang="en-US" sz="1100">
                <a:solidFill>
                  <a:schemeClr val="dk1"/>
                </a:solidFill>
              </a:rPr>
              <a:t>Use the best-trained model to predict lung cancer risk for new input data. Ensure user input undergoes the same preprocessing steps (encoding and scaling). Finally, compare model performances and summarize insights regarding the most effective algorithm for lung cancer prediction.</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bdabd06b18_0_50"/>
          <p:cNvSpPr txBox="1"/>
          <p:nvPr/>
        </p:nvSpPr>
        <p:spPr>
          <a:xfrm>
            <a:off x="389875" y="1038100"/>
            <a:ext cx="8208600" cy="3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t>Methodology (ML with Flask Full-Stack Integration):</a:t>
            </a:r>
            <a:endParaRPr b="1"/>
          </a:p>
          <a:p>
            <a:pPr indent="-317500" lvl="0" marL="457200" rtl="0" algn="l">
              <a:spcBef>
                <a:spcPts val="0"/>
              </a:spcBef>
              <a:spcAft>
                <a:spcPts val="0"/>
              </a:spcAft>
              <a:buSzPts val="1400"/>
              <a:buChar char="●"/>
            </a:pPr>
            <a:r>
              <a:rPr b="1" lang="en-US" sz="1100">
                <a:solidFill>
                  <a:schemeClr val="dk1"/>
                </a:solidFill>
              </a:rPr>
              <a:t>Problem Definition &amp; Data Collection</a:t>
            </a:r>
            <a:endParaRPr b="1" sz="1100">
              <a:solidFill>
                <a:schemeClr val="dk1"/>
              </a:solidFill>
            </a:endParaRPr>
          </a:p>
          <a:p>
            <a:pPr indent="0" lvl="0" marL="457200" rtl="0" algn="l">
              <a:spcBef>
                <a:spcPts val="0"/>
              </a:spcBef>
              <a:spcAft>
                <a:spcPts val="0"/>
              </a:spcAft>
              <a:buNone/>
            </a:pPr>
            <a:r>
              <a:rPr lang="en-US" sz="1100">
                <a:solidFill>
                  <a:schemeClr val="dk1"/>
                </a:solidFill>
              </a:rPr>
              <a:t>Define the objective to predict lung cancer risk using health indicators (smoking, wheezing, alcohol consumption, coughing, chest pain) and collect the dataset (</a:t>
            </a:r>
            <a:r>
              <a:rPr lang="en-US" sz="1100">
                <a:solidFill>
                  <a:srgbClr val="188038"/>
                </a:solidFill>
                <a:latin typeface="Roboto Mono"/>
                <a:ea typeface="Roboto Mono"/>
                <a:cs typeface="Roboto Mono"/>
                <a:sym typeface="Roboto Mono"/>
              </a:rPr>
              <a:t>lungcancer.csv</a:t>
            </a:r>
            <a:r>
              <a:rPr lang="en-US" sz="1100">
                <a:solidFill>
                  <a:schemeClr val="dk1"/>
                </a:solidFill>
              </a:rPr>
              <a:t>) containing features and target variable.</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Data Preprocessing</a:t>
            </a:r>
            <a:endParaRPr b="1" sz="1100">
              <a:solidFill>
                <a:schemeClr val="dk1"/>
              </a:solidFill>
            </a:endParaRPr>
          </a:p>
          <a:p>
            <a:pPr indent="0" lvl="0" marL="457200" rtl="0" algn="l">
              <a:spcBef>
                <a:spcPts val="0"/>
              </a:spcBef>
              <a:spcAft>
                <a:spcPts val="0"/>
              </a:spcAft>
              <a:buNone/>
            </a:pPr>
            <a:r>
              <a:rPr lang="en-US" sz="1100">
                <a:solidFill>
                  <a:schemeClr val="dk1"/>
                </a:solidFill>
              </a:rPr>
              <a:t>Load the dataset using Pandas, clean and standardize column names, rename inconsistent fields, select relevant features and target variable, and prepare data for model training.</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Model Development &amp; Training</a:t>
            </a:r>
            <a:endParaRPr b="1" sz="1100">
              <a:solidFill>
                <a:schemeClr val="dk1"/>
              </a:solidFill>
            </a:endParaRPr>
          </a:p>
          <a:p>
            <a:pPr indent="0" lvl="0" marL="457200" rtl="0" algn="l">
              <a:spcBef>
                <a:spcPts val="0"/>
              </a:spcBef>
              <a:spcAft>
                <a:spcPts val="0"/>
              </a:spcAft>
              <a:buNone/>
            </a:pPr>
            <a:r>
              <a:rPr lang="en-US" sz="1100">
                <a:solidFill>
                  <a:schemeClr val="dk1"/>
                </a:solidFill>
              </a:rPr>
              <a:t>Use Scikit-learn’s DecisionTreeClassifier for binary classification, train the model using selected features, evaluate performance, and serialize the trained model using Pickle (</a:t>
            </a:r>
            <a:r>
              <a:rPr lang="en-US" sz="1100">
                <a:solidFill>
                  <a:srgbClr val="188038"/>
                </a:solidFill>
                <a:latin typeface="Roboto Mono"/>
                <a:ea typeface="Roboto Mono"/>
                <a:cs typeface="Roboto Mono"/>
                <a:sym typeface="Roboto Mono"/>
              </a:rPr>
              <a:t>model.pkl</a:t>
            </a:r>
            <a:r>
              <a:rPr lang="en-US"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Backend Development (Flask Integration)</a:t>
            </a:r>
            <a:endParaRPr b="1" sz="1100">
              <a:solidFill>
                <a:schemeClr val="dk1"/>
              </a:solidFill>
            </a:endParaRPr>
          </a:p>
          <a:p>
            <a:pPr indent="0" lvl="0" marL="457200" rtl="0" algn="l">
              <a:spcBef>
                <a:spcPts val="0"/>
              </a:spcBef>
              <a:spcAft>
                <a:spcPts val="0"/>
              </a:spcAft>
              <a:buNone/>
            </a:pPr>
            <a:r>
              <a:rPr lang="en-US" sz="1100">
                <a:solidFill>
                  <a:schemeClr val="dk1"/>
                </a:solidFill>
              </a:rPr>
              <a:t>Build a Flask application to load the trained model, create routes for home and prediction pages, handle POST requests, validate inputs, convert data into NumPy arrays, and generate predictions.</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Frontend Development (Full-Stack Implementation)</a:t>
            </a:r>
            <a:endParaRPr b="1" sz="1100">
              <a:solidFill>
                <a:schemeClr val="dk1"/>
              </a:solidFill>
            </a:endParaRPr>
          </a:p>
          <a:p>
            <a:pPr indent="0" lvl="0" marL="457200" rtl="0" algn="l">
              <a:spcBef>
                <a:spcPts val="0"/>
              </a:spcBef>
              <a:spcAft>
                <a:spcPts val="0"/>
              </a:spcAft>
              <a:buNone/>
            </a:pPr>
            <a:r>
              <a:rPr lang="en-US" sz="1100">
                <a:solidFill>
                  <a:schemeClr val="dk1"/>
                </a:solidFill>
              </a:rPr>
              <a:t>Design a web interface using HTML, CSS, and Jinja2 templates to collect user inputs through forms and display prediction results dynamically.</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Testing, Deployment &amp; Enhancement</a:t>
            </a:r>
            <a:endParaRPr b="1" sz="1100">
              <a:solidFill>
                <a:schemeClr val="dk1"/>
              </a:solidFill>
            </a:endParaRPr>
          </a:p>
          <a:p>
            <a:pPr indent="0" lvl="0" marL="457200" rtl="0" algn="l">
              <a:spcBef>
                <a:spcPts val="0"/>
              </a:spcBef>
              <a:spcAft>
                <a:spcPts val="0"/>
              </a:spcAft>
              <a:buNone/>
            </a:pPr>
            <a:r>
              <a:rPr lang="en-US" sz="1100">
                <a:solidFill>
                  <a:schemeClr val="dk1"/>
                </a:solidFill>
              </a:rPr>
              <a:t>Test the application locally using Flask server, validate prediction outputs, and enhance the system with visualization, cross-validation, cloud deployment, or database integration.</a:t>
            </a:r>
            <a:endParaRPr sz="1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nvSpPr>
        <p:spPr>
          <a:xfrm>
            <a:off x="653089" y="1325270"/>
            <a:ext cx="7347900" cy="1770000"/>
          </a:xfrm>
          <a:prstGeom prst="rect">
            <a:avLst/>
          </a:prstGeom>
          <a:noFill/>
          <a:ln>
            <a:noFill/>
          </a:ln>
        </p:spPr>
        <p:txBody>
          <a:bodyPr anchorCtr="0" anchor="t" bIns="91425" lIns="91425" spcFirstLastPara="1" rIns="91425" wrap="square" tIns="91425">
            <a:spAutoFit/>
          </a:bodyPr>
          <a:lstStyle/>
          <a:p>
            <a:pPr indent="0" lvl="0" marL="0" marR="0" rtl="0" algn="just">
              <a:lnSpc>
                <a:spcPct val="200000"/>
              </a:lnSpc>
              <a:spcBef>
                <a:spcPts val="0"/>
              </a:spcBef>
              <a:spcAft>
                <a:spcPts val="0"/>
              </a:spcAft>
              <a:buNone/>
            </a:pPr>
            <a:r>
              <a:t/>
            </a:r>
            <a:endParaRPr/>
          </a:p>
          <a:p>
            <a:pPr indent="0" lvl="0" marL="0" marR="0" rtl="0" algn="l">
              <a:lnSpc>
                <a:spcPct val="2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49" name="Google Shape;149;p10"/>
          <p:cNvSpPr/>
          <p:nvPr/>
        </p:nvSpPr>
        <p:spPr>
          <a:xfrm>
            <a:off x="2250000" y="87250"/>
            <a:ext cx="4644000" cy="6435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2200" u="none" cap="none" strike="noStrike">
                <a:solidFill>
                  <a:srgbClr val="D7AC54"/>
                </a:solidFill>
                <a:latin typeface="Cantarell"/>
                <a:ea typeface="Cantarell"/>
                <a:cs typeface="Cantarell"/>
                <a:sym typeface="Cantarell"/>
              </a:rPr>
              <a:t>Architecture diagram </a:t>
            </a:r>
            <a:endParaRPr/>
          </a:p>
        </p:txBody>
      </p:sp>
      <p:pic>
        <p:nvPicPr>
          <p:cNvPr id="150" name="Google Shape;150;p10"/>
          <p:cNvPicPr preferRelativeResize="0"/>
          <p:nvPr/>
        </p:nvPicPr>
        <p:blipFill rotWithShape="1">
          <a:blip r:embed="rId3">
            <a:alphaModFix/>
          </a:blip>
          <a:srcRect b="0" l="0" r="0" t="0"/>
          <a:stretch/>
        </p:blipFill>
        <p:spPr>
          <a:xfrm>
            <a:off x="234850" y="754525"/>
            <a:ext cx="3794600" cy="3820675"/>
          </a:xfrm>
          <a:prstGeom prst="rect">
            <a:avLst/>
          </a:prstGeom>
          <a:noFill/>
          <a:ln>
            <a:noFill/>
          </a:ln>
        </p:spPr>
      </p:pic>
      <p:graphicFrame>
        <p:nvGraphicFramePr>
          <p:cNvPr id="151" name="Google Shape;151;p10"/>
          <p:cNvGraphicFramePr/>
          <p:nvPr/>
        </p:nvGraphicFramePr>
        <p:xfrm>
          <a:off x="3888275" y="754525"/>
          <a:ext cx="3000000" cy="3000000"/>
        </p:xfrm>
        <a:graphic>
          <a:graphicData uri="http://schemas.openxmlformats.org/drawingml/2006/table">
            <a:tbl>
              <a:tblPr>
                <a:noFill/>
                <a:tableStyleId>{D63B1057-A7B5-47D8-AD01-F1C6BBCDE35F}</a:tableStyleId>
              </a:tblPr>
              <a:tblGrid>
                <a:gridCol w="3619525"/>
              </a:tblGrid>
              <a:tr h="1140675">
                <a:tc>
                  <a:txBody>
                    <a:bodyPr/>
                    <a:lstStyle/>
                    <a:p>
                      <a:pPr indent="0" lvl="0" marL="0" rtl="0" algn="l">
                        <a:spcBef>
                          <a:spcPts val="0"/>
                        </a:spcBef>
                        <a:spcAft>
                          <a:spcPts val="0"/>
                        </a:spcAft>
                        <a:buClr>
                          <a:schemeClr val="dk1"/>
                        </a:buClr>
                        <a:buSzPts val="1100"/>
                        <a:buFont typeface="Arial"/>
                        <a:buNone/>
                      </a:pPr>
                      <a:r>
                        <a:rPr b="1" lang="en-US"/>
                        <a:t>Web Client (Presentation Tier):</a:t>
                      </a:r>
                      <a:endParaRPr b="1"/>
                    </a:p>
                    <a:p>
                      <a:pPr indent="0" lvl="0" marL="0" rtl="0" algn="l">
                        <a:spcBef>
                          <a:spcPts val="0"/>
                        </a:spcBef>
                        <a:spcAft>
                          <a:spcPts val="0"/>
                        </a:spcAft>
                        <a:buClr>
                          <a:schemeClr val="dk1"/>
                        </a:buClr>
                        <a:buSzPts val="1100"/>
                        <a:buFont typeface="Arial"/>
                        <a:buNone/>
                      </a:pPr>
                      <a:r>
                        <a:rPr lang="en-US"/>
                        <a:t>This is the user interface where patients enter their details and view results.</a:t>
                      </a:r>
                      <a:endParaRPr/>
                    </a:p>
                    <a:p>
                      <a:pPr indent="0" lvl="0" marL="0" rtl="0" algn="l">
                        <a:spcBef>
                          <a:spcPts val="0"/>
                        </a:spcBef>
                        <a:spcAft>
                          <a:spcPts val="0"/>
                        </a:spcAft>
                        <a:buNone/>
                      </a:pPr>
                      <a:r>
                        <a:rPr lang="en-US"/>
                        <a:t>It sends data to the server through HTTP requests.</a:t>
                      </a:r>
                      <a:endParaRPr/>
                    </a:p>
                  </a:txBody>
                  <a:tcPr marT="91425" marB="91425" marR="91425" marL="91425"/>
                </a:tc>
              </a:tr>
              <a:tr h="1335450">
                <a:tc>
                  <a:txBody>
                    <a:bodyPr/>
                    <a:lstStyle/>
                    <a:p>
                      <a:pPr indent="0" lvl="0" marL="0" rtl="0" algn="l">
                        <a:spcBef>
                          <a:spcPts val="0"/>
                        </a:spcBef>
                        <a:spcAft>
                          <a:spcPts val="0"/>
                        </a:spcAft>
                        <a:buClr>
                          <a:schemeClr val="dk1"/>
                        </a:buClr>
                        <a:buSzPts val="1100"/>
                        <a:buFont typeface="Arial"/>
                        <a:buNone/>
                      </a:pPr>
                      <a:r>
                        <a:rPr b="1" lang="en-US"/>
                        <a:t>Web Server (Application Tier):</a:t>
                      </a:r>
                      <a:endParaRPr b="1"/>
                    </a:p>
                    <a:p>
                      <a:pPr indent="0" lvl="0" marL="0" rtl="0" algn="l">
                        <a:spcBef>
                          <a:spcPts val="0"/>
                        </a:spcBef>
                        <a:spcAft>
                          <a:spcPts val="0"/>
                        </a:spcAft>
                        <a:buClr>
                          <a:schemeClr val="dk1"/>
                        </a:buClr>
                        <a:buSzPts val="1100"/>
                        <a:buFont typeface="Arial"/>
                        <a:buNone/>
                      </a:pPr>
                      <a:r>
                        <a:rPr lang="en-US"/>
                        <a:t>Flask server processes user input, performs validation, and interacts with the database.</a:t>
                      </a:r>
                      <a:endParaRPr/>
                    </a:p>
                    <a:p>
                      <a:pPr indent="0" lvl="0" marL="0" rtl="0" algn="l">
                        <a:spcBef>
                          <a:spcPts val="0"/>
                        </a:spcBef>
                        <a:spcAft>
                          <a:spcPts val="0"/>
                        </a:spcAft>
                        <a:buClr>
                          <a:schemeClr val="dk1"/>
                        </a:buClr>
                        <a:buSzPts val="1100"/>
                        <a:buFont typeface="Arial"/>
                        <a:buNone/>
                      </a:pPr>
                      <a:r>
                        <a:rPr lang="en-US"/>
                        <a:t>It calls the ML model and returns the prediction result.</a:t>
                      </a:r>
                      <a:endParaRPr/>
                    </a:p>
                    <a:p>
                      <a:pPr indent="0" lvl="0" marL="0" rtl="0" algn="l">
                        <a:spcBef>
                          <a:spcPts val="0"/>
                        </a:spcBef>
                        <a:spcAft>
                          <a:spcPts val="0"/>
                        </a:spcAft>
                        <a:buNone/>
                      </a:pPr>
                      <a:r>
                        <a:t/>
                      </a:r>
                      <a:endParaRPr/>
                    </a:p>
                  </a:txBody>
                  <a:tcPr marT="91425" marB="91425" marR="91425" marL="91425"/>
                </a:tc>
              </a:tr>
              <a:tr h="1335450">
                <a:tc>
                  <a:txBody>
                    <a:bodyPr/>
                    <a:lstStyle/>
                    <a:p>
                      <a:pPr indent="0" lvl="0" marL="0" rtl="0" algn="l">
                        <a:spcBef>
                          <a:spcPts val="0"/>
                        </a:spcBef>
                        <a:spcAft>
                          <a:spcPts val="0"/>
                        </a:spcAft>
                        <a:buClr>
                          <a:schemeClr val="dk1"/>
                        </a:buClr>
                        <a:buSzPts val="1100"/>
                        <a:buFont typeface="Arial"/>
                        <a:buNone/>
                      </a:pPr>
                      <a:r>
                        <a:rPr b="1" lang="en-US"/>
                        <a:t>AI &amp; Database Layer (Intelligence Tier):</a:t>
                      </a:r>
                      <a:endParaRPr b="1"/>
                    </a:p>
                    <a:p>
                      <a:pPr indent="0" lvl="0" marL="0" rtl="0" algn="l">
                        <a:spcBef>
                          <a:spcPts val="0"/>
                        </a:spcBef>
                        <a:spcAft>
                          <a:spcPts val="0"/>
                        </a:spcAft>
                        <a:buClr>
                          <a:schemeClr val="dk1"/>
                        </a:buClr>
                        <a:buSzPts val="1100"/>
                        <a:buFont typeface="Arial"/>
                        <a:buNone/>
                      </a:pPr>
                      <a:r>
                        <a:rPr lang="en-US"/>
                        <a:t>This layer contains ML/DNN/QNN models that analyze medical data and predict lung cancer risk.</a:t>
                      </a:r>
                      <a:endParaRPr/>
                    </a:p>
                    <a:p>
                      <a:pPr indent="0" lvl="0" marL="0" rtl="0" algn="l">
                        <a:spcBef>
                          <a:spcPts val="0"/>
                        </a:spcBef>
                        <a:spcAft>
                          <a:spcPts val="0"/>
                        </a:spcAft>
                        <a:buClr>
                          <a:schemeClr val="dk1"/>
                        </a:buClr>
                        <a:buSzPts val="1100"/>
                        <a:buFont typeface="Arial"/>
                        <a:buNone/>
                      </a:pPr>
                      <a:r>
                        <a:rPr lang="en-US"/>
                        <a:t>I</a:t>
                      </a:r>
                      <a:endParaRPr/>
                    </a:p>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be914e93db_0_0"/>
          <p:cNvSpPr/>
          <p:nvPr/>
        </p:nvSpPr>
        <p:spPr>
          <a:xfrm>
            <a:off x="2250000" y="87250"/>
            <a:ext cx="4644000" cy="6435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lang="en-US" sz="2200">
                <a:solidFill>
                  <a:srgbClr val="D7AC54"/>
                </a:solidFill>
                <a:latin typeface="Cantarell"/>
                <a:ea typeface="Cantarell"/>
                <a:cs typeface="Cantarell"/>
                <a:sym typeface="Cantarell"/>
              </a:rPr>
              <a:t>Gantt Chart</a:t>
            </a:r>
            <a:r>
              <a:rPr b="1" i="0" lang="en-US" sz="2200" u="none" cap="none" strike="noStrike">
                <a:solidFill>
                  <a:srgbClr val="D7AC54"/>
                </a:solidFill>
                <a:latin typeface="Cantarell"/>
                <a:ea typeface="Cantarell"/>
                <a:cs typeface="Cantarell"/>
                <a:sym typeface="Cantarell"/>
              </a:rPr>
              <a:t> </a:t>
            </a:r>
            <a:endParaRPr/>
          </a:p>
        </p:txBody>
      </p:sp>
      <p:pic>
        <p:nvPicPr>
          <p:cNvPr id="157" name="Google Shape;157;g3be914e93db_0_0"/>
          <p:cNvPicPr preferRelativeResize="0"/>
          <p:nvPr/>
        </p:nvPicPr>
        <p:blipFill>
          <a:blip r:embed="rId3">
            <a:alphaModFix/>
          </a:blip>
          <a:stretch>
            <a:fillRect/>
          </a:stretch>
        </p:blipFill>
        <p:spPr>
          <a:xfrm>
            <a:off x="495550" y="883150"/>
            <a:ext cx="8126276" cy="3762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c7a03537a4_0_95"/>
          <p:cNvSpPr txBox="1"/>
          <p:nvPr/>
        </p:nvSpPr>
        <p:spPr>
          <a:xfrm>
            <a:off x="282225" y="1051275"/>
            <a:ext cx="8278500" cy="35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u="sng">
                <a:solidFill>
                  <a:schemeClr val="dk2"/>
                </a:solidFill>
              </a:rPr>
              <a:t>Project Progress so far:</a:t>
            </a:r>
            <a:endParaRPr b="1" sz="1800" u="sng">
              <a:solidFill>
                <a:schemeClr val="dk2"/>
              </a:solidFill>
            </a:endParaRPr>
          </a:p>
          <a:p>
            <a:pPr indent="-342900" lvl="0" marL="457200" rtl="0" algn="l">
              <a:spcBef>
                <a:spcPts val="0"/>
              </a:spcBef>
              <a:spcAft>
                <a:spcPts val="0"/>
              </a:spcAft>
              <a:buClr>
                <a:schemeClr val="dk2"/>
              </a:buClr>
              <a:buSzPts val="1800"/>
              <a:buAutoNum type="arabicParenR"/>
            </a:pPr>
            <a:r>
              <a:rPr b="1" lang="en-US" sz="1800">
                <a:solidFill>
                  <a:schemeClr val="dk2"/>
                </a:solidFill>
              </a:rPr>
              <a:t>Built prototype for ML but yet to be tuned</a:t>
            </a:r>
            <a:endParaRPr b="1" sz="1800">
              <a:solidFill>
                <a:schemeClr val="dk2"/>
              </a:solidFill>
            </a:endParaRPr>
          </a:p>
          <a:p>
            <a:pPr indent="0" lvl="0" marL="457200" rtl="0" algn="l">
              <a:spcBef>
                <a:spcPts val="0"/>
              </a:spcBef>
              <a:spcAft>
                <a:spcPts val="0"/>
              </a:spcAft>
              <a:buNone/>
            </a:pPr>
            <a:r>
              <a:t/>
            </a:r>
            <a:endParaRPr b="1" sz="1800">
              <a:solidFill>
                <a:schemeClr val="dk2"/>
              </a:solidFill>
            </a:endParaRPr>
          </a:p>
          <a:p>
            <a:pPr indent="-342900" lvl="0" marL="457200" rtl="0" algn="l">
              <a:spcBef>
                <a:spcPts val="0"/>
              </a:spcBef>
              <a:spcAft>
                <a:spcPts val="0"/>
              </a:spcAft>
              <a:buClr>
                <a:schemeClr val="dk2"/>
              </a:buClr>
              <a:buSzPts val="1800"/>
              <a:buAutoNum type="arabicParenR"/>
            </a:pPr>
            <a:r>
              <a:rPr b="1" lang="en-US" sz="1800">
                <a:solidFill>
                  <a:schemeClr val="dk2"/>
                </a:solidFill>
              </a:rPr>
              <a:t>Partially Completed Integration of python Flask Frame  work with ML</a:t>
            </a:r>
            <a:endParaRPr b="1" sz="1800">
              <a:solidFill>
                <a:schemeClr val="dk2"/>
              </a:solidFill>
            </a:endParaRPr>
          </a:p>
          <a:p>
            <a:pPr indent="0" lvl="0" marL="457200" rtl="0" algn="l">
              <a:spcBef>
                <a:spcPts val="0"/>
              </a:spcBef>
              <a:spcAft>
                <a:spcPts val="0"/>
              </a:spcAft>
              <a:buNone/>
            </a:pPr>
            <a:r>
              <a:t/>
            </a:r>
            <a:endParaRPr b="1" sz="1800">
              <a:solidFill>
                <a:schemeClr val="dk2"/>
              </a:solidFill>
            </a:endParaRPr>
          </a:p>
          <a:p>
            <a:pPr indent="-342900" lvl="0" marL="457200" rtl="0" algn="l">
              <a:spcBef>
                <a:spcPts val="0"/>
              </a:spcBef>
              <a:spcAft>
                <a:spcPts val="0"/>
              </a:spcAft>
              <a:buClr>
                <a:schemeClr val="dk2"/>
              </a:buClr>
              <a:buSzPts val="1800"/>
              <a:buAutoNum type="arabicParenR"/>
            </a:pPr>
            <a:r>
              <a:rPr b="1" lang="en-US" sz="1800">
                <a:solidFill>
                  <a:schemeClr val="dk2"/>
                </a:solidFill>
              </a:rPr>
              <a:t>Prototype ready</a:t>
            </a:r>
            <a:endParaRPr b="1" sz="1800">
              <a:solidFill>
                <a:schemeClr val="dk2"/>
              </a:solidFill>
            </a:endParaRPr>
          </a:p>
          <a:p>
            <a:pPr indent="0" lvl="0" marL="0" rtl="0" algn="l">
              <a:spcBef>
                <a:spcPts val="0"/>
              </a:spcBef>
              <a:spcAft>
                <a:spcPts val="0"/>
              </a:spcAft>
              <a:buNone/>
            </a:pPr>
            <a:r>
              <a:t/>
            </a:r>
            <a:endParaRPr b="1" sz="1800">
              <a:solidFill>
                <a:schemeClr val="dk2"/>
              </a:solidFill>
            </a:endParaRPr>
          </a:p>
          <a:p>
            <a:pPr indent="0" lvl="0" marL="0" rtl="0" algn="l">
              <a:spcBef>
                <a:spcPts val="0"/>
              </a:spcBef>
              <a:spcAft>
                <a:spcPts val="0"/>
              </a:spcAft>
              <a:buNone/>
            </a:pPr>
            <a:r>
              <a:rPr b="1" lang="en-US" sz="1800" u="sng">
                <a:solidFill>
                  <a:schemeClr val="dk2"/>
                </a:solidFill>
              </a:rPr>
              <a:t>Next Phase activity:</a:t>
            </a:r>
            <a:endParaRPr b="1" sz="1800">
              <a:solidFill>
                <a:schemeClr val="dk2"/>
              </a:solidFill>
            </a:endParaRPr>
          </a:p>
          <a:p>
            <a:pPr indent="-342900" lvl="0" marL="457200" rtl="0" algn="l">
              <a:spcBef>
                <a:spcPts val="0"/>
              </a:spcBef>
              <a:spcAft>
                <a:spcPts val="0"/>
              </a:spcAft>
              <a:buClr>
                <a:schemeClr val="dk2"/>
              </a:buClr>
              <a:buSzPts val="1800"/>
              <a:buAutoNum type="arabicParenR"/>
            </a:pPr>
            <a:r>
              <a:rPr b="1" lang="en-US" sz="1800">
                <a:solidFill>
                  <a:schemeClr val="dk2"/>
                </a:solidFill>
              </a:rPr>
              <a:t>SRS-&gt; IEEE template</a:t>
            </a:r>
            <a:endParaRPr b="1" sz="1800">
              <a:solidFill>
                <a:schemeClr val="dk2"/>
              </a:solidFill>
            </a:endParaRPr>
          </a:p>
          <a:p>
            <a:pPr indent="-342900" lvl="0" marL="457200" rtl="0" algn="l">
              <a:spcBef>
                <a:spcPts val="0"/>
              </a:spcBef>
              <a:spcAft>
                <a:spcPts val="0"/>
              </a:spcAft>
              <a:buClr>
                <a:schemeClr val="dk2"/>
              </a:buClr>
              <a:buSzPts val="1800"/>
              <a:buAutoNum type="arabicParenR"/>
            </a:pPr>
            <a:r>
              <a:rPr b="1" lang="en-US" sz="1800">
                <a:solidFill>
                  <a:schemeClr val="dk2"/>
                </a:solidFill>
              </a:rPr>
              <a:t>System test-&gt; IEEE 829</a:t>
            </a:r>
            <a:endParaRPr b="1" sz="1800">
              <a:solidFill>
                <a:schemeClr val="dk2"/>
              </a:solidFill>
            </a:endParaRPr>
          </a:p>
          <a:p>
            <a:pPr indent="-342900" lvl="0" marL="457200" rtl="0" algn="l">
              <a:spcBef>
                <a:spcPts val="0"/>
              </a:spcBef>
              <a:spcAft>
                <a:spcPts val="0"/>
              </a:spcAft>
              <a:buClr>
                <a:schemeClr val="dk2"/>
              </a:buClr>
              <a:buSzPts val="1800"/>
              <a:buAutoNum type="arabicParenR"/>
            </a:pPr>
            <a:r>
              <a:rPr b="1" lang="en-US" sz="1800">
                <a:solidFill>
                  <a:schemeClr val="dk2"/>
                </a:solidFill>
              </a:rPr>
              <a:t>Learn Deep Learning</a:t>
            </a:r>
            <a:endParaRPr b="1" sz="1800">
              <a:solidFill>
                <a:schemeClr val="dk2"/>
              </a:solidFill>
            </a:endParaRPr>
          </a:p>
          <a:p>
            <a:pPr indent="0" lvl="0" marL="457200" rtl="0" algn="l">
              <a:spcBef>
                <a:spcPts val="0"/>
              </a:spcBef>
              <a:spcAft>
                <a:spcPts val="0"/>
              </a:spcAft>
              <a:buNone/>
            </a:pPr>
            <a:r>
              <a:t/>
            </a:r>
            <a:endParaRPr b="1"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c7a03537a4_0_99"/>
          <p:cNvSpPr txBox="1"/>
          <p:nvPr/>
        </p:nvSpPr>
        <p:spPr>
          <a:xfrm>
            <a:off x="378650" y="1239425"/>
            <a:ext cx="8360700" cy="33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2"/>
                </a:solidFill>
              </a:rPr>
              <a:t>Test activities:</a:t>
            </a:r>
            <a:endParaRPr sz="1800">
              <a:solidFill>
                <a:schemeClr val="dk2"/>
              </a:solidFill>
            </a:endParaRPr>
          </a:p>
          <a:p>
            <a:pPr indent="0" lvl="0" marL="0" rtl="0" algn="l">
              <a:spcBef>
                <a:spcPts val="0"/>
              </a:spcBef>
              <a:spcAft>
                <a:spcPts val="0"/>
              </a:spcAft>
              <a:buNone/>
            </a:pPr>
            <a:r>
              <a:rPr lang="en-US" sz="1800">
                <a:solidFill>
                  <a:schemeClr val="dk2"/>
                </a:solidFill>
              </a:rPr>
              <a:t>1)Planning to use IEEE 8 2 9 template test plan Document for preparing test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US" sz="1800">
                <a:solidFill>
                  <a:schemeClr val="dk2"/>
                </a:solidFill>
              </a:rPr>
              <a:t>2)Understanding project functionality from SRS Document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US" sz="1800">
                <a:solidFill>
                  <a:schemeClr val="dk2"/>
                </a:solidFill>
              </a:rPr>
              <a:t>3) Next Deliverables    # Test Plan</a:t>
            </a:r>
            <a:endParaRPr sz="1800">
              <a:solidFill>
                <a:schemeClr val="dk2"/>
              </a:solidFill>
            </a:endParaRPr>
          </a:p>
          <a:p>
            <a:pPr indent="0" lvl="0" marL="457200" rtl="0" algn="l">
              <a:spcBef>
                <a:spcPts val="0"/>
              </a:spcBef>
              <a:spcAft>
                <a:spcPts val="0"/>
              </a:spcAft>
              <a:buNone/>
            </a:pPr>
            <a:r>
              <a:rPr lang="en-US" sz="1800">
                <a:solidFill>
                  <a:schemeClr val="dk2"/>
                </a:solidFill>
              </a:rPr>
              <a:t>                             # Test Cases</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nvSpPr>
        <p:spPr>
          <a:xfrm>
            <a:off x="814453" y="1265516"/>
            <a:ext cx="80499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lang="en-US" sz="1100"/>
              <a:t>Application of machine learning in lung cancer prediction — Dingjingmu Yang (2024). This paper reviews ML models applied for lung cancer prediction using various datasets and highlights the effectiveness of ML techniques in early detection.</a:t>
            </a:r>
            <a:endParaRPr sz="1100"/>
          </a:p>
          <a:p>
            <a:pPr indent="0" lvl="0" marL="457200" rtl="0" algn="l">
              <a:spcBef>
                <a:spcPts val="0"/>
              </a:spcBef>
              <a:spcAft>
                <a:spcPts val="0"/>
              </a:spcAft>
              <a:buNone/>
            </a:pPr>
            <a:r>
              <a:t/>
            </a:r>
            <a:endParaRPr sz="1100"/>
          </a:p>
          <a:p>
            <a:pPr indent="-298450" lvl="0" marL="457200" rtl="0" algn="l">
              <a:spcBef>
                <a:spcPts val="0"/>
              </a:spcBef>
              <a:spcAft>
                <a:spcPts val="0"/>
              </a:spcAft>
              <a:buSzPts val="1100"/>
              <a:buChar char="●"/>
            </a:pPr>
            <a:r>
              <a:rPr lang="en-US" sz="1100"/>
              <a:t>Optimizing Lung Cancer Risk Prediction with Advanced Machine Learning Algorithms and Techniques (2024). This article discusses advanced ML methods like Random Forest, XGBoost, and Logistic Regression for improved lung cancer risk prediction.</a:t>
            </a:r>
            <a:endParaRPr sz="1100"/>
          </a:p>
          <a:p>
            <a:pPr indent="0" lvl="0" marL="457200" rtl="0" algn="l">
              <a:spcBef>
                <a:spcPts val="0"/>
              </a:spcBef>
              <a:spcAft>
                <a:spcPts val="0"/>
              </a:spcAft>
              <a:buNone/>
            </a:pPr>
            <a:r>
              <a:t/>
            </a:r>
            <a:endParaRPr sz="1100"/>
          </a:p>
          <a:p>
            <a:pPr indent="-298450" lvl="0" marL="457200" rtl="0" algn="l">
              <a:spcBef>
                <a:spcPts val="0"/>
              </a:spcBef>
              <a:spcAft>
                <a:spcPts val="0"/>
              </a:spcAft>
              <a:buSzPts val="1100"/>
              <a:buChar char="●"/>
            </a:pPr>
            <a:r>
              <a:rPr lang="en-US" sz="1100"/>
              <a:t>Lung cancer risk prediction using augmented machine learning pipelines with explainable AI — Pavithran M.S. et al. (2025). This research emphasizes augmentation techniques and explainable AI in ML pipelines to improve prediction accuracy for lung cancer datasets.</a:t>
            </a:r>
            <a:endParaRPr sz="1100"/>
          </a:p>
          <a:p>
            <a:pPr indent="0" lvl="0" marL="457200" rtl="0" algn="l">
              <a:spcBef>
                <a:spcPts val="0"/>
              </a:spcBef>
              <a:spcAft>
                <a:spcPts val="0"/>
              </a:spcAft>
              <a:buNone/>
            </a:pPr>
            <a:r>
              <a:t/>
            </a:r>
            <a:endParaRPr sz="1100"/>
          </a:p>
          <a:p>
            <a:pPr indent="-298450" lvl="0" marL="457200" rtl="0" algn="l">
              <a:spcBef>
                <a:spcPts val="0"/>
              </a:spcBef>
              <a:spcAft>
                <a:spcPts val="0"/>
              </a:spcAft>
              <a:buSzPts val="1100"/>
              <a:buChar char="●"/>
            </a:pPr>
            <a:r>
              <a:rPr lang="en-US" sz="1100"/>
              <a:t>AI-Driven Predictive Modeling for Lung Cancer Detection Using Synthetic Data Augmentation and Random Forest Classifier (2025). This work focuses on synthetic data augmentation and Random Forest classifier performance for lung cancer prediction.</a:t>
            </a:r>
            <a:endParaRPr sz="1100"/>
          </a:p>
          <a:p>
            <a:pPr indent="0" lvl="0" marL="457200" rtl="0" algn="l">
              <a:spcBef>
                <a:spcPts val="0"/>
              </a:spcBef>
              <a:spcAft>
                <a:spcPts val="0"/>
              </a:spcAft>
              <a:buNone/>
            </a:pPr>
            <a:r>
              <a:t/>
            </a:r>
            <a:endParaRPr sz="1100"/>
          </a:p>
          <a:p>
            <a:pPr indent="-298450" lvl="0" marL="457200" rtl="0" algn="l">
              <a:spcBef>
                <a:spcPts val="0"/>
              </a:spcBef>
              <a:spcAft>
                <a:spcPts val="0"/>
              </a:spcAft>
              <a:buSzPts val="1100"/>
              <a:buChar char="●"/>
            </a:pPr>
            <a:r>
              <a:rPr lang="en-US" sz="1100"/>
              <a:t>The role of machine learning in lung cancer prediction: Insights from a multifactorial risk assessment (2024). This article explores ML models and their effectiveness in assessing multifactorial risk indicators of lung cancer.</a:t>
            </a:r>
            <a:endParaRPr sz="1100"/>
          </a:p>
          <a:p>
            <a:pPr indent="0" lvl="0" marL="457200" marR="0" rtl="0" algn="l">
              <a:lnSpc>
                <a:spcPct val="100000"/>
              </a:lnSpc>
              <a:spcBef>
                <a:spcPts val="0"/>
              </a:spcBef>
              <a:spcAft>
                <a:spcPts val="0"/>
              </a:spcAft>
              <a:buNone/>
            </a:pPr>
            <a:r>
              <a:t/>
            </a:r>
            <a:endParaRPr sz="1100"/>
          </a:p>
        </p:txBody>
      </p:sp>
      <p:sp>
        <p:nvSpPr>
          <p:cNvPr id="173" name="Google Shape;173;p12"/>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2200" u="none" cap="none" strike="noStrike">
                <a:solidFill>
                  <a:srgbClr val="D7AC54"/>
                </a:solidFill>
                <a:latin typeface="Cantarell"/>
                <a:ea typeface="Cantarell"/>
                <a:cs typeface="Cantarell"/>
                <a:sym typeface="Cantarell"/>
              </a:rPr>
              <a:t>References</a:t>
            </a:r>
            <a:endParaRPr b="1" i="0" sz="2200" u="none" cap="none" strike="noStrike">
              <a:solidFill>
                <a:srgbClr val="D7AC54"/>
              </a:solidFill>
              <a:latin typeface="Cantarell"/>
              <a:ea typeface="Cantarell"/>
              <a:cs typeface="Cantarell"/>
              <a:sym typeface="Cantare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nvSpPr>
        <p:spPr>
          <a:xfrm>
            <a:off x="1968538" y="1898836"/>
            <a:ext cx="4572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Thank You</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Sheela S</dc:creator>
</cp:coreProperties>
</file>