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7" r:id="rId5"/>
    <p:sldId id="258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  <p:embeddedFontLst>
    <p:embeddedFont>
      <p:font typeface="Calibri" panose="020F0502020204030204"/>
      <p:regular r:id="rId18"/>
      <p:bold r:id="rId19"/>
      <p:italic r:id="rId20"/>
      <p:boldItalic r:id="rId21"/>
    </p:embeddedFont>
    <p:embeddedFont>
      <p:font typeface="Cantarell" panose="0200060300000000000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91" userDrawn="1">
          <p15:clr>
            <a:srgbClr val="747775"/>
          </p15:clr>
        </p15:guide>
        <p15:guide id="2" pos="287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91"/>
        <p:guide pos="287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57" name="Google Shape;57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68" name="Google Shape;68;p2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f211e544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af211e544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f211e544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af211e544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0" descr="A white and gold rectangles&#10;&#10;Description automatically generated with low confidence"/>
          <p:cNvPicPr preferRelativeResize="0"/>
          <p:nvPr/>
        </p:nvPicPr>
        <p:blipFill rotWithShape="1">
          <a:blip r:embed="rId2">
            <a:alphaModFix amt="2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0" descr="A picture containing text, logo, font, graphics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127532" y="1"/>
            <a:ext cx="2016469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0"/>
          <p:cNvSpPr/>
          <p:nvPr/>
        </p:nvSpPr>
        <p:spPr>
          <a:xfrm>
            <a:off x="0" y="4676776"/>
            <a:ext cx="9144000" cy="46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10"/>
          <p:cNvSpPr/>
          <p:nvPr/>
        </p:nvSpPr>
        <p:spPr>
          <a:xfrm>
            <a:off x="0" y="5109210"/>
            <a:ext cx="9144000" cy="342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7AC5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3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5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17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17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9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/>
        </p:nvSpPr>
        <p:spPr>
          <a:xfrm>
            <a:off x="988775" y="1049850"/>
            <a:ext cx="6200400" cy="1313815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None/>
            </a:pPr>
            <a:r>
              <a:rPr lang="en-US" altLang="en-US" sz="2700" b="1" i="0" u="none" strike="noStrike" cap="none">
                <a:solidFill>
                  <a:srgbClr val="D7AC54"/>
                </a:solidFill>
                <a:latin typeface="Cantarell" panose="02000603000000000000"/>
                <a:ea typeface="Cantarell" panose="02000603000000000000"/>
                <a:cs typeface="Cantarell" panose="02000603000000000000"/>
                <a:sym typeface="Cantarell" panose="02000603000000000000"/>
              </a:rPr>
              <a:t>Full-Stack Lung Cancer Risk Prediction using ML, DL, and QML</a:t>
            </a:r>
            <a:endParaRPr lang="en-US" altLang="en-US" sz="2700" b="1" i="0" u="none" strike="noStrike" cap="none">
              <a:solidFill>
                <a:srgbClr val="D7AC54"/>
              </a:solidFill>
              <a:latin typeface="Cantarell" panose="02000603000000000000"/>
              <a:ea typeface="Cantarell" panose="02000603000000000000"/>
              <a:cs typeface="Cantarell" panose="02000603000000000000"/>
              <a:sym typeface="Cantarell" panose="02000603000000000000"/>
            </a:endParaRPr>
          </a:p>
        </p:txBody>
      </p:sp>
      <p:pic>
        <p:nvPicPr>
          <p:cNvPr id="60" name="Google Shape;60;p1" descr="A picture containing text, logo, font, graphics&#10;&#10;Description automatically generate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994922" y="0"/>
            <a:ext cx="2149079" cy="120801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/>
          <p:nvPr/>
        </p:nvSpPr>
        <p:spPr>
          <a:xfrm>
            <a:off x="0" y="4791075"/>
            <a:ext cx="9144000" cy="951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Google Shape;62;p1"/>
          <p:cNvSpPr/>
          <p:nvPr/>
        </p:nvSpPr>
        <p:spPr>
          <a:xfrm rot="10800000" flipH="1">
            <a:off x="0" y="4930228"/>
            <a:ext cx="9144000" cy="342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3664758" y="2583185"/>
            <a:ext cx="4801200" cy="115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            Team members:</a:t>
            </a:r>
            <a:endParaRPr sz="11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100" b="1"/>
              <a:t>                                                   </a:t>
            </a: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USN 1RVU22CSE145  - </a:t>
            </a:r>
            <a:r>
              <a:rPr lang="en-GB" sz="1100" b="1"/>
              <a:t>SHASHANK G</a:t>
            </a:r>
            <a:endParaRPr sz="11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100" b="1">
                <a:solidFill>
                  <a:schemeClr val="dk1"/>
                </a:solidFill>
              </a:rPr>
              <a:t>                                             </a:t>
            </a:r>
            <a:r>
              <a:rPr lang="en-GB" sz="11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USN </a:t>
            </a:r>
            <a:r>
              <a:rPr lang="en-GB" sz="1100" b="1">
                <a:solidFill>
                  <a:schemeClr val="dk1"/>
                </a:solidFill>
              </a:rPr>
              <a:t>1RVU22CSE112</a:t>
            </a:r>
            <a:r>
              <a:rPr lang="en-GB" sz="11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- </a:t>
            </a:r>
            <a:r>
              <a:rPr lang="en-GB" sz="1100" b="1">
                <a:solidFill>
                  <a:schemeClr val="dk1"/>
                </a:solidFill>
              </a:rPr>
              <a:t>NITHISH N</a:t>
            </a:r>
            <a:endParaRPr sz="11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100" b="1">
                <a:solidFill>
                  <a:schemeClr val="dk1"/>
                </a:solidFill>
              </a:rPr>
              <a:t>   </a:t>
            </a:r>
            <a:r>
              <a:rPr lang="en-GB" sz="11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USN </a:t>
            </a:r>
            <a:r>
              <a:rPr lang="en-GB" sz="1100" b="1">
                <a:solidFill>
                  <a:schemeClr val="dk1"/>
                </a:solidFill>
              </a:rPr>
              <a:t>1RVU23LCSE005</a:t>
            </a:r>
            <a:r>
              <a:rPr lang="en-GB" sz="11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</a:t>
            </a:r>
            <a:r>
              <a:rPr lang="en-GB" sz="1100" b="1">
                <a:solidFill>
                  <a:schemeClr val="dk1"/>
                </a:solidFill>
              </a:rPr>
              <a:t>PRUTHVIRAJ R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100" b="1">
                <a:solidFill>
                  <a:schemeClr val="dk1"/>
                </a:solidFill>
              </a:rPr>
              <a:t>                                                   </a:t>
            </a:r>
            <a:r>
              <a:rPr lang="en-GB" sz="11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USN </a:t>
            </a:r>
            <a:r>
              <a:rPr lang="en-GB" sz="1100" b="1">
                <a:solidFill>
                  <a:schemeClr val="dk1"/>
                </a:solidFill>
              </a:rPr>
              <a:t>1RVU23LCSE007</a:t>
            </a:r>
            <a:r>
              <a:rPr lang="en-GB" sz="11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- </a:t>
            </a:r>
            <a:r>
              <a:rPr lang="en-GB" sz="1100" b="1">
                <a:solidFill>
                  <a:schemeClr val="dk1"/>
                </a:solidFill>
              </a:rPr>
              <a:t>SHRINIDHI R </a:t>
            </a: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1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109845" y="2706281"/>
            <a:ext cx="4461900" cy="85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Guide: </a:t>
            </a:r>
            <a:endParaRPr sz="11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Prof. </a:t>
            </a:r>
            <a:r>
              <a:rPr lang="en-GB" sz="1100" b="1"/>
              <a:t>CVSN REDDY</a:t>
            </a:r>
            <a:endParaRPr sz="11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School of Computer Science and Engineering </a:t>
            </a:r>
            <a:endParaRPr sz="11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RV University, Bangalore </a:t>
            </a:r>
            <a:endParaRPr sz="11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420360" y="179071"/>
            <a:ext cx="7395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0" y="179325"/>
            <a:ext cx="7125600" cy="7281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2200" b="1" i="0" u="none" strike="noStrike" cap="none">
                <a:solidFill>
                  <a:srgbClr val="D7AC54"/>
                </a:solidFill>
                <a:latin typeface="Cantarell" panose="02000603000000000000"/>
                <a:ea typeface="Cantarell" panose="02000603000000000000"/>
                <a:cs typeface="Cantarell" panose="02000603000000000000"/>
                <a:sym typeface="Cantarell" panose="02000603000000000000"/>
              </a:rPr>
              <a:t>Outlines </a:t>
            </a:r>
            <a:endParaRPr sz="2200" b="1" i="0" u="none" strike="noStrike" cap="none">
              <a:solidFill>
                <a:srgbClr val="D7AC54"/>
              </a:solidFill>
              <a:latin typeface="Cantarell" panose="02000603000000000000"/>
              <a:ea typeface="Cantarell" panose="02000603000000000000"/>
              <a:cs typeface="Cantarell" panose="02000603000000000000"/>
              <a:sym typeface="Cantarell" panose="02000603000000000000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498317" y="1492463"/>
            <a:ext cx="80373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/>
              <a:buAutoNum type="arabicPeriod"/>
            </a:pPr>
            <a:r>
              <a:rPr lang="en-GB" sz="1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Introduction </a:t>
            </a:r>
            <a:endParaRPr sz="19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/>
              <a:buAutoNum type="arabicPeriod"/>
            </a:pPr>
            <a:r>
              <a:rPr lang="en-GB" sz="1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 </a:t>
            </a:r>
            <a:endParaRPr sz="19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/>
              <a:buAutoNum type="arabicPeriod"/>
            </a:pPr>
            <a:r>
              <a:rPr lang="en-GB" sz="1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Scope and Application Area</a:t>
            </a:r>
            <a:endParaRPr sz="19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/>
              <a:buAutoNum type="arabicPeriod"/>
            </a:pPr>
            <a:r>
              <a:rPr lang="en-GB" sz="1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Objectives and expected outcomes</a:t>
            </a:r>
            <a:endParaRPr sz="19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 panose="020B0604020202020204"/>
              <a:buAutoNum type="arabicPeriod"/>
            </a:pPr>
            <a:r>
              <a:rPr lang="en-GB" sz="1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References </a:t>
            </a:r>
            <a:endParaRPr sz="19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/>
        </p:nvSpPr>
        <p:spPr>
          <a:xfrm>
            <a:off x="739150" y="2240850"/>
            <a:ext cx="7347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sz="25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2200" b="1" i="0" u="none" strike="noStrike" cap="none">
                <a:solidFill>
                  <a:srgbClr val="D7AC54"/>
                </a:solidFill>
                <a:latin typeface="Cantarell" panose="02000603000000000000"/>
                <a:ea typeface="Cantarell" panose="02000603000000000000"/>
                <a:cs typeface="Cantarell" panose="02000603000000000000"/>
                <a:sym typeface="Cantarell" panose="02000603000000000000"/>
              </a:rPr>
              <a:t>Introduction  </a:t>
            </a:r>
            <a:endParaRPr sz="2200" b="1" i="0" u="none" strike="noStrike" cap="none">
              <a:solidFill>
                <a:srgbClr val="D7AC54"/>
              </a:solidFill>
              <a:latin typeface="Cantarell" panose="02000603000000000000"/>
              <a:ea typeface="Cantarell" panose="02000603000000000000"/>
              <a:cs typeface="Cantarell" panose="02000603000000000000"/>
              <a:sym typeface="Cantarell" panose="02000603000000000000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448025" y="1178775"/>
            <a:ext cx="8101200" cy="3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577775" y="1012250"/>
            <a:ext cx="8290800" cy="3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b="1">
                <a:solidFill>
                  <a:schemeClr val="dk2"/>
                </a:solidFill>
              </a:rPr>
              <a:t>Lung cancer is one of the leading causes of cancer-related deaths worldwide, with late detection being a major contributor to poor survival rates.</a:t>
            </a:r>
            <a:endParaRPr sz="1800" b="1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b="1">
                <a:solidFill>
                  <a:schemeClr val="dk2"/>
                </a:solidFill>
              </a:rPr>
              <a:t>While medical diagnosis requires clinical tests and expert evaluation, data-driven risk prediction models can assist in early risk awareness and preventive screening decisions.</a:t>
            </a:r>
            <a:endParaRPr sz="1800" b="1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b="1">
                <a:solidFill>
                  <a:schemeClr val="dk2"/>
                </a:solidFill>
              </a:rPr>
              <a:t>Machine learning helps analyze large healthcare data to find patterns that can predict disease risk.</a:t>
            </a:r>
            <a:endParaRPr sz="1800" b="1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b="1">
                <a:solidFill>
                  <a:schemeClr val="dk2"/>
                </a:solidFill>
              </a:rPr>
              <a:t>This project presents a full-stack lung cancer detection system that compares machine learning, deep learning, and quantum machine learning (QML/QNN) models to predict cancer risk based on patient data.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Google Shape;77;p3"/>
          <p:cNvSpPr/>
          <p:nvPr/>
        </p:nvSpPr>
        <p:spPr>
          <a:xfrm>
            <a:off x="2092912" y="1526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rgbClr val="D7AC54"/>
                </a:solidFill>
                <a:latin typeface="Cantarell" panose="02000603000000000000"/>
                <a:ea typeface="Cantarell" panose="02000603000000000000"/>
                <a:cs typeface="Cantarell" panose="02000603000000000000"/>
                <a:sym typeface="Cantarell" panose="02000603000000000000"/>
              </a:rPr>
              <a:t>System Architecture</a:t>
            </a:r>
            <a:endParaRPr lang="en-US" sz="1800" b="1" i="0" u="none" strike="noStrike" cap="none">
              <a:solidFill>
                <a:srgbClr val="D7AC54"/>
              </a:solidFill>
              <a:latin typeface="Cantarell" panose="02000603000000000000"/>
              <a:ea typeface="Cantarell" panose="02000603000000000000"/>
              <a:cs typeface="Cantarell" panose="02000603000000000000"/>
              <a:sym typeface="Cantarell" panose="0200060300000000000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9440" y="619125"/>
            <a:ext cx="2865120" cy="3945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/>
        </p:nvSpPr>
        <p:spPr>
          <a:xfrm>
            <a:off x="739150" y="2240850"/>
            <a:ext cx="7347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sz="25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2200" b="1" i="0" u="none" strike="noStrike" cap="none">
                <a:solidFill>
                  <a:srgbClr val="D7AC54"/>
                </a:solidFill>
                <a:latin typeface="Cantarell" panose="02000603000000000000"/>
                <a:ea typeface="Cantarell" panose="02000603000000000000"/>
                <a:cs typeface="Cantarell" panose="02000603000000000000"/>
                <a:sym typeface="Cantarell" panose="02000603000000000000"/>
              </a:rPr>
              <a:t>Problem Statement </a:t>
            </a:r>
            <a:endParaRPr sz="2200" b="1" i="0" u="none" strike="noStrike" cap="none">
              <a:solidFill>
                <a:srgbClr val="D7AC54"/>
              </a:solidFill>
              <a:latin typeface="Cantarell" panose="02000603000000000000"/>
              <a:ea typeface="Cantarell" panose="02000603000000000000"/>
              <a:cs typeface="Cantarell" panose="02000603000000000000"/>
              <a:sym typeface="Cantarell" panose="02000603000000000000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378125" y="1143775"/>
            <a:ext cx="8373000" cy="3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dk2"/>
                </a:solidFill>
              </a:rPr>
              <a:t>Early identification of individuals at high risk of lung cancer is challenging due to multiple influencing factors such as age, smoking habits, work environment, and family history.</a:t>
            </a:r>
            <a:endParaRPr lang="en-US" altLang="en-US" sz="1600" b="1">
              <a:solidFill>
                <a:schemeClr val="dk2"/>
              </a:solidFill>
            </a:endParaRP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1">
              <a:solidFill>
                <a:schemeClr val="dk2"/>
              </a:solidFill>
            </a:endParaRP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dk2"/>
                </a:solidFill>
              </a:rPr>
              <a:t>Existing machine learning approaches for lung cancer risk analysis show varying performance across different datasets and evaluation metrics.</a:t>
            </a:r>
            <a:endParaRPr lang="en-US" altLang="en-US" sz="1600" b="1">
              <a:solidFill>
                <a:schemeClr val="dk2"/>
              </a:solidFill>
            </a:endParaRP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1">
              <a:solidFill>
                <a:schemeClr val="dk2"/>
              </a:solidFill>
            </a:endParaRP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dk2"/>
                </a:solidFill>
              </a:rPr>
              <a:t>There is a lack of a unified framework to systematically compare traditional machine learning, deep learning, and quantum machine learning (QML/QNN) models.</a:t>
            </a:r>
            <a:endParaRPr lang="en-US" altLang="en-US" sz="1600" b="1">
              <a:solidFill>
                <a:schemeClr val="dk2"/>
              </a:solidFill>
            </a:endParaRP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1">
              <a:solidFill>
                <a:schemeClr val="dk2"/>
              </a:solidFill>
            </a:endParaRP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dk2"/>
                </a:solidFill>
              </a:rPr>
              <a:t>This project aims to develop a full-stack system to evaluate and compare these models for lung cancer risk prediction using structured healthcare data.</a:t>
            </a:r>
            <a:endParaRPr lang="en-US" altLang="en-US" sz="1600" b="1">
              <a:solidFill>
                <a:schemeClr val="dk2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/>
        </p:nvSpPr>
        <p:spPr>
          <a:xfrm>
            <a:off x="739150" y="2240850"/>
            <a:ext cx="7347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sz="25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329125" y="278676"/>
            <a:ext cx="4417800" cy="5694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2200" b="1" i="0" u="none" strike="noStrike" cap="none">
                <a:solidFill>
                  <a:srgbClr val="D7AC54"/>
                </a:solidFill>
                <a:latin typeface="Cantarell" panose="02000603000000000000"/>
                <a:ea typeface="Cantarell" panose="02000603000000000000"/>
                <a:cs typeface="Cantarell" panose="02000603000000000000"/>
                <a:sym typeface="Cantarell" panose="02000603000000000000"/>
              </a:rPr>
              <a:t>Scope and Application Area </a:t>
            </a:r>
            <a:endParaRPr sz="2200" b="1" i="0" u="none" strike="noStrike" cap="none">
              <a:solidFill>
                <a:srgbClr val="D7AC54"/>
              </a:solidFill>
              <a:latin typeface="Cantarell" panose="02000603000000000000"/>
              <a:ea typeface="Cantarell" panose="02000603000000000000"/>
              <a:cs typeface="Cantarell" panose="02000603000000000000"/>
              <a:sym typeface="Cantarell" panose="02000603000000000000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413350" y="1002875"/>
            <a:ext cx="8513700" cy="3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1300" b="1">
                <a:solidFill>
                  <a:schemeClr val="dk1"/>
                </a:solidFill>
              </a:rPr>
              <a:t>Scope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What we implement: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Use publicly available and anonymized datasets such as UCI and Kaggle healthcare datasets.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Focus on lung cancer risk prediction rather than clinical diagnosis.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Implement and compare traditional machine learning, deep learning, and quantum machine learning (QML/QNN) models.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Evaluate model performance using standard metrics and basic statistical analysis.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Develop a simple full-stack web interface for user data input and visualization of prediction results.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1300" b="1">
                <a:solidFill>
                  <a:schemeClr val="dk1"/>
                </a:solidFill>
              </a:rPr>
              <a:t>What we do not implement: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Real-time or clinical lung cancer diagnosis.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Advanced medical imaging analysis such as CT or X-ray image processing.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1300" b="1">
                <a:solidFill>
                  <a:schemeClr val="dk1"/>
                </a:solidFill>
              </a:rPr>
              <a:t>Application Areas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Healthcare risk analytics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Preventive health screening systems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Clinical decision support research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chemeClr val="dk1"/>
                </a:solidFill>
              </a:rPr>
              <a:t>Medical data science studies</a:t>
            </a: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3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/>
        </p:nvSpPr>
        <p:spPr>
          <a:xfrm>
            <a:off x="739150" y="2240850"/>
            <a:ext cx="7347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sz="25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772865" y="143740"/>
            <a:ext cx="4644000" cy="6435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2200" b="1" i="0" u="none" strike="noStrike" cap="none">
                <a:solidFill>
                  <a:srgbClr val="D7AC54"/>
                </a:solidFill>
                <a:latin typeface="Cantarell" panose="02000603000000000000"/>
                <a:ea typeface="Cantarell" panose="02000603000000000000"/>
                <a:cs typeface="Cantarell" panose="02000603000000000000"/>
                <a:sym typeface="Cantarell" panose="02000603000000000000"/>
              </a:rPr>
              <a:t>Objectives and Expected Outcomes </a:t>
            </a:r>
            <a:endParaRPr sz="2200" b="1" i="0" u="none" strike="noStrike" cap="none">
              <a:solidFill>
                <a:srgbClr val="D7AC54"/>
              </a:solidFill>
              <a:latin typeface="Cantarell" panose="02000603000000000000"/>
              <a:ea typeface="Cantarell" panose="02000603000000000000"/>
              <a:cs typeface="Cantarell" panose="02000603000000000000"/>
              <a:sym typeface="Cantarell" panose="02000603000000000000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413350" y="1096800"/>
            <a:ext cx="8232000" cy="3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300" b="1">
                <a:solidFill>
                  <a:schemeClr val="dk1"/>
                </a:solidFill>
              </a:rPr>
              <a:t>Objectives:</a:t>
            </a:r>
            <a:endParaRPr sz="1300">
              <a:solidFill>
                <a:schemeClr val="dk1"/>
              </a:solidFill>
            </a:endParaRPr>
          </a:p>
          <a:p>
            <a:pPr marL="431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GB" sz="1300" b="1">
                <a:solidFill>
                  <a:schemeClr val="dk1"/>
                </a:solidFill>
              </a:rPr>
              <a:t>To apply lung cancer datasets on machine learning, deep learning, and quantum machine learning (QML/QNN) models.</a:t>
            </a:r>
            <a:endParaRPr sz="1300" b="1">
              <a:solidFill>
                <a:schemeClr val="dk1"/>
              </a:solidFill>
            </a:endParaRPr>
          </a:p>
          <a:p>
            <a:pPr marL="431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GB" sz="1300" b="1">
                <a:solidFill>
                  <a:schemeClr val="dk1"/>
                </a:solidFill>
              </a:rPr>
              <a:t>To preprocess and prepare healthcare data for effective model training and evaluation.</a:t>
            </a:r>
            <a:endParaRPr sz="1300" b="1">
              <a:solidFill>
                <a:schemeClr val="dk1"/>
              </a:solidFill>
            </a:endParaRPr>
          </a:p>
          <a:p>
            <a:pPr marL="431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GB" sz="1300" b="1">
                <a:solidFill>
                  <a:schemeClr val="dk1"/>
                </a:solidFill>
              </a:rPr>
              <a:t>To compare different models based on performance metrics such as accuracy and error rates.</a:t>
            </a:r>
            <a:endParaRPr sz="1300" b="1">
              <a:solidFill>
                <a:schemeClr val="dk1"/>
              </a:solidFill>
            </a:endParaRPr>
          </a:p>
          <a:p>
            <a:pPr marL="431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GB" sz="1300" b="1">
                <a:solidFill>
                  <a:schemeClr val="dk1"/>
                </a:solidFill>
              </a:rPr>
              <a:t>To analyze model behavior using feature importance and interpretability techniques.</a:t>
            </a:r>
            <a:br>
              <a:rPr lang="en-GB" sz="1300" b="1">
                <a:solidFill>
                  <a:schemeClr val="dk1"/>
                </a:solidFill>
              </a:rPr>
            </a:br>
            <a:endParaRPr sz="1300" b="1">
              <a:solidFill>
                <a:schemeClr val="dk1"/>
              </a:solidFill>
            </a:endParaRPr>
          </a:p>
          <a:p>
            <a:pPr marL="431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GB" sz="1300" b="1">
                <a:solidFill>
                  <a:schemeClr val="dk1"/>
                </a:solidFill>
              </a:rPr>
              <a:t>To enable the complete system through a full-stack architecture.</a:t>
            </a:r>
            <a:endParaRPr sz="1300" b="1">
              <a:solidFill>
                <a:schemeClr val="dk1"/>
              </a:solidFill>
            </a:endParaRPr>
          </a:p>
          <a:p>
            <a:pPr marL="4445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1300" b="1">
                <a:solidFill>
                  <a:schemeClr val="dk1"/>
                </a:solidFill>
              </a:rPr>
              <a:t>To develop a simple web-based GUI for user input and visualization of prediction results.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f211e544_0_7"/>
          <p:cNvSpPr txBox="1"/>
          <p:nvPr/>
        </p:nvSpPr>
        <p:spPr>
          <a:xfrm>
            <a:off x="542525" y="1061575"/>
            <a:ext cx="8196600" cy="35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en-GB" sz="1300" b="1">
                <a:solidFill>
                  <a:schemeClr val="dk1"/>
                </a:solidFill>
              </a:rPr>
              <a:t>    </a:t>
            </a:r>
            <a:r>
              <a:rPr lang="en-GB" sz="1300" b="1">
                <a:solidFill>
                  <a:schemeClr val="dk1"/>
                </a:solidFill>
              </a:rPr>
              <a:t>Expected Outcomes</a:t>
            </a:r>
            <a:r>
              <a:rPr lang="en-US" altLang="en-GB" sz="1300" b="1">
                <a:solidFill>
                  <a:schemeClr val="dk1"/>
                </a:solidFill>
              </a:rPr>
              <a:t>:</a:t>
            </a:r>
            <a:endParaRPr sz="1300" b="1">
              <a:solidFill>
                <a:schemeClr val="dk1"/>
              </a:solidFill>
            </a:endParaRPr>
          </a:p>
          <a:p>
            <a:pPr marL="43180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dk1"/>
                </a:solidFill>
              </a:rPr>
              <a:t>Comparative analysis of ML, DL, and QML/QNN models for lung cancer risk prediction.</a:t>
            </a:r>
            <a:endParaRPr lang="en-US" altLang="en-US" b="1">
              <a:solidFill>
                <a:schemeClr val="dk1"/>
              </a:solidFill>
            </a:endParaRPr>
          </a:p>
          <a:p>
            <a:pPr marL="43180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dk1"/>
                </a:solidFill>
              </a:rPr>
              <a:t>Identification of the most reliable model based on accuracy, false positives, and stability.</a:t>
            </a:r>
            <a:endParaRPr lang="en-US" altLang="en-US" b="1">
              <a:solidFill>
                <a:schemeClr val="dk1"/>
              </a:solidFill>
            </a:endParaRPr>
          </a:p>
          <a:p>
            <a:pPr marL="43180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dk1"/>
                </a:solidFill>
              </a:rPr>
              <a:t>Objective model evaluation using standard performance metrics and explainability methods.</a:t>
            </a:r>
            <a:endParaRPr lang="en-US" altLang="en-US" b="1">
              <a:solidFill>
                <a:schemeClr val="dk1"/>
              </a:solidFill>
            </a:endParaRPr>
          </a:p>
          <a:p>
            <a:pPr marL="43180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dk1"/>
                </a:solidFill>
              </a:rPr>
              <a:t>A working full-stack web prototype demonstrating lung cancer risk prediction.</a:t>
            </a:r>
            <a:endParaRPr lang="en-US" altLang="en-US" b="1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af211e544_0_12"/>
          <p:cNvSpPr txBox="1"/>
          <p:nvPr/>
        </p:nvSpPr>
        <p:spPr>
          <a:xfrm>
            <a:off x="425100" y="1378650"/>
            <a:ext cx="7950000" cy="29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2232660" y="25717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b="1"/>
              <a:t>       System Workflow</a:t>
            </a:r>
            <a:endParaRPr lang="en-US" altLang="en-US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207770"/>
            <a:ext cx="6454140" cy="2727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/>
        </p:nvSpPr>
        <p:spPr>
          <a:xfrm>
            <a:off x="739150" y="2240850"/>
            <a:ext cx="7347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endParaRPr sz="25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2200" b="1" i="0" u="none" strike="noStrike" cap="none">
                <a:solidFill>
                  <a:srgbClr val="D7AC54"/>
                </a:solidFill>
                <a:latin typeface="Cantarell" panose="02000603000000000000"/>
                <a:ea typeface="Cantarell" panose="02000603000000000000"/>
                <a:cs typeface="Cantarell" panose="02000603000000000000"/>
                <a:sym typeface="Cantarell" panose="02000603000000000000"/>
              </a:rPr>
              <a:t>References</a:t>
            </a:r>
            <a:endParaRPr sz="2200" b="1" i="0" u="none" strike="noStrike" cap="none">
              <a:solidFill>
                <a:srgbClr val="D7AC54"/>
              </a:solidFill>
              <a:latin typeface="Cantarell" panose="02000603000000000000"/>
              <a:ea typeface="Cantarell" panose="02000603000000000000"/>
              <a:cs typeface="Cantarell" panose="02000603000000000000"/>
              <a:sym typeface="Cantarell" panose="02000603000000000000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472075" y="1155525"/>
            <a:ext cx="8091000" cy="3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300" b="1" u="sng">
                <a:solidFill>
                  <a:schemeClr val="dk1"/>
                </a:solidFill>
              </a:rPr>
              <a:t>References</a:t>
            </a:r>
            <a:endParaRPr sz="1300" b="1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100">
                <a:solidFill>
                  <a:schemeClr val="dk1"/>
                </a:solidFill>
              </a:rPr>
              <a:t>[1] K. Mohan and B. Thayyil, “Machine learning techniques for lung cancer risk prediction using text dataset,” </a:t>
            </a:r>
            <a:r>
              <a:rPr lang="en-GB" sz="1100" i="1">
                <a:solidFill>
                  <a:schemeClr val="dk1"/>
                </a:solidFill>
              </a:rPr>
              <a:t>International Journal of Data Informatics and Science</a:t>
            </a:r>
            <a:r>
              <a:rPr lang="en-GB" sz="1100">
                <a:solidFill>
                  <a:schemeClr val="dk1"/>
                </a:solidFill>
              </a:rPr>
              <a:t>, vol. 3, no. 2, pp. 45–54, 2023.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100">
                <a:solidFill>
                  <a:schemeClr val="dk1"/>
                </a:solidFill>
              </a:rPr>
              <a:t>[2] S. A. Khan, M. Alam, and R. Gupta, “Lung cancer risk prediction using machine learning techniques,” </a:t>
            </a:r>
            <a:r>
              <a:rPr lang="en-GB" sz="1100" i="1">
                <a:solidFill>
                  <a:schemeClr val="dk1"/>
                </a:solidFill>
              </a:rPr>
              <a:t>Journal of Scientific Research</a:t>
            </a:r>
            <a:r>
              <a:rPr lang="en-GB" sz="1100">
                <a:solidFill>
                  <a:schemeClr val="dk1"/>
                </a:solidFill>
              </a:rPr>
              <a:t>, vol. 14, no. 1, pp. 89–97, 2021.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100">
                <a:solidFill>
                  <a:schemeClr val="dk1"/>
                </a:solidFill>
              </a:rPr>
              <a:t>[3] J. Liu, Y. Wang, and X. Zhang, “Improving lung cancer risk prediction using ensemble machine learning models,” </a:t>
            </a:r>
            <a:r>
              <a:rPr lang="en-GB" sz="1100" i="1">
                <a:solidFill>
                  <a:schemeClr val="dk1"/>
                </a:solidFill>
              </a:rPr>
              <a:t>IEEE Access</a:t>
            </a:r>
            <a:r>
              <a:rPr lang="en-GB" sz="1100">
                <a:solidFill>
                  <a:schemeClr val="dk1"/>
                </a:solidFill>
              </a:rPr>
              <a:t>, vol. 9, pp. 112345–112356, 2021.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100">
                <a:solidFill>
                  <a:schemeClr val="dk1"/>
                </a:solidFill>
              </a:rPr>
              <a:t>[4] A. Sharma and P. Verma, “Lung cancer risk analysis and prediction using machine learning approaches,” </a:t>
            </a:r>
            <a:r>
              <a:rPr lang="en-GB" sz="1100" i="1">
                <a:solidFill>
                  <a:schemeClr val="dk1"/>
                </a:solidFill>
              </a:rPr>
              <a:t>Health Science and Engineering Journal</a:t>
            </a:r>
            <a:r>
              <a:rPr lang="en-GB" sz="1100">
                <a:solidFill>
                  <a:schemeClr val="dk1"/>
                </a:solidFill>
              </a:rPr>
              <a:t>, vol. 5, no. 3, pp. 210–218, 2022.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100">
                <a:solidFill>
                  <a:schemeClr val="dk1"/>
                </a:solidFill>
              </a:rPr>
              <a:t>[5] R. Patel, N. Shah, and K. Desai, “Explainable machine learning for lung cancer risk prediction,” </a:t>
            </a:r>
            <a:r>
              <a:rPr lang="en-GB" sz="1100" i="1">
                <a:solidFill>
                  <a:schemeClr val="dk1"/>
                </a:solidFill>
              </a:rPr>
              <a:t>Computers in Biology and Medicine</a:t>
            </a:r>
            <a:r>
              <a:rPr lang="en-GB" sz="1100">
                <a:solidFill>
                  <a:schemeClr val="dk1"/>
                </a:solidFill>
              </a:rPr>
              <a:t>, vol. 146, pp. 105558, 2022.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4565</Words>
  <Application>WPS Presentation</Application>
  <PresentationFormat/>
  <Paragraphs>100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Cantarell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Nithish Nagendra</cp:lastModifiedBy>
  <cp:revision>2</cp:revision>
  <dcterms:created xsi:type="dcterms:W3CDTF">2026-01-02T13:16:44Z</dcterms:created>
  <dcterms:modified xsi:type="dcterms:W3CDTF">2026-01-02T13:41:25Z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8D7F96804BF74F319624D6ACF53E8AFD_12</vt:lpwstr>
  </property>
  <property fmtid="{D5CDD505-2E9C-101B-9397-08002B2CF9AE}" pid="3" name="KSOProductBuildVer">
    <vt:lpwstr>1033-12.2.0.23196</vt:lpwstr>
  </property>
</Properties>
</file>