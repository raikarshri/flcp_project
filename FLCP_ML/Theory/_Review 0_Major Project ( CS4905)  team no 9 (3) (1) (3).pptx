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Cantarell"/>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591">
          <p15:clr>
            <a:srgbClr val="747775"/>
          </p15:clr>
        </p15:guide>
        <p15:guide id="2" pos="2875">
          <p15:clr>
            <a:srgbClr val="747775"/>
          </p15:clr>
        </p15:guide>
      </p15:sldGuideLst>
    </p:ext>
    <p:ext uri="GoogleSlidesCustomDataVersion2">
      <go:slidesCustomData xmlns:go="http://customooxmlschemas.google.com/" r:id="rId22" roundtripDataSignature="AMtx7mjGkMyLkoiLbQN58NNo7icUy0sb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91" orient="horz"/>
        <p:guide pos="287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antarell-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Cantarell-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antarell-bold.fntdata"/><Relationship Id="rId6" Type="http://schemas.openxmlformats.org/officeDocument/2006/relationships/slide" Target="slides/slide1.xml"/><Relationship Id="rId18" Type="http://schemas.openxmlformats.org/officeDocument/2006/relationships/font" Target="fonts/Cantarell-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57" name="Google Shape;5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68" name="Google Shape;6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27f2c9c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b27f2c9c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2313b21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2313b21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pic>
        <p:nvPicPr>
          <p:cNvPr descr="A white and gold rectangles&#10;&#10;Description automatically generated with low confidence" id="14" name="Google Shape;14;p13"/>
          <p:cNvPicPr preferRelativeResize="0"/>
          <p:nvPr/>
        </p:nvPicPr>
        <p:blipFill rotWithShape="1">
          <a:blip r:embed="rId2">
            <a:alphaModFix amt="20000"/>
          </a:blip>
          <a:srcRect b="0" l="0" r="0" t="0"/>
          <a:stretch/>
        </p:blipFill>
        <p:spPr>
          <a:xfrm>
            <a:off x="0" y="0"/>
            <a:ext cx="9144000" cy="5143500"/>
          </a:xfrm>
          <a:prstGeom prst="rect">
            <a:avLst/>
          </a:prstGeom>
          <a:noFill/>
          <a:ln>
            <a:noFill/>
          </a:ln>
        </p:spPr>
      </p:pic>
      <p:pic>
        <p:nvPicPr>
          <p:cNvPr descr="A picture containing text, logo, font, graphics&#10;&#10;Description automatically generated" id="15" name="Google Shape;15;p13"/>
          <p:cNvPicPr preferRelativeResize="0"/>
          <p:nvPr/>
        </p:nvPicPr>
        <p:blipFill rotWithShape="1">
          <a:blip r:embed="rId3">
            <a:alphaModFix/>
          </a:blip>
          <a:srcRect b="0" l="0" r="0" t="0"/>
          <a:stretch/>
        </p:blipFill>
        <p:spPr>
          <a:xfrm>
            <a:off x="7127532" y="1"/>
            <a:ext cx="2016469" cy="1133475"/>
          </a:xfrm>
          <a:prstGeom prst="rect">
            <a:avLst/>
          </a:prstGeom>
          <a:noFill/>
          <a:ln>
            <a:noFill/>
          </a:ln>
        </p:spPr>
      </p:pic>
      <p:sp>
        <p:nvSpPr>
          <p:cNvPr id="16" name="Google Shape;16;p13"/>
          <p:cNvSpPr/>
          <p:nvPr/>
        </p:nvSpPr>
        <p:spPr>
          <a:xfrm>
            <a:off x="0" y="4676776"/>
            <a:ext cx="9144000" cy="466800"/>
          </a:xfrm>
          <a:prstGeom prst="round2SameRect">
            <a:avLst>
              <a:gd fmla="val 50000" name="adj1"/>
              <a:gd fmla="val 0"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 name="Google Shape;17;p13"/>
          <p:cNvSpPr/>
          <p:nvPr/>
        </p:nvSpPr>
        <p:spPr>
          <a:xfrm>
            <a:off x="0" y="5109210"/>
            <a:ext cx="9144000" cy="34200"/>
          </a:xfrm>
          <a:prstGeom prst="round2SameRect">
            <a:avLst>
              <a:gd fmla="val 0" name="adj1"/>
              <a:gd fmla="val 0" name="adj2"/>
            </a:avLst>
          </a:prstGeom>
          <a:solidFill>
            <a:srgbClr val="D7AC5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 name="Google Shape;2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1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 name="Google Shape;35;p1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9" name="Google Shape;3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8" name="Google Shape;4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nvSpPr>
        <p:spPr>
          <a:xfrm>
            <a:off x="988775" y="1049850"/>
            <a:ext cx="6200400" cy="1316100"/>
          </a:xfrm>
          <a:prstGeom prst="rect">
            <a:avLst/>
          </a:prstGeom>
          <a:solidFill>
            <a:srgbClr val="233039"/>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700"/>
              <a:buFont typeface="Arial"/>
              <a:buNone/>
            </a:pPr>
            <a:r>
              <a:rPr b="1" i="0" lang="en-GB" sz="2700" u="none" cap="none" strike="noStrike">
                <a:solidFill>
                  <a:srgbClr val="D7AC54"/>
                </a:solidFill>
                <a:latin typeface="Cantarell"/>
                <a:ea typeface="Cantarell"/>
                <a:cs typeface="Cantarell"/>
                <a:sym typeface="Cantarell"/>
              </a:rPr>
              <a:t>Full-Stack based Lung Cancer Risk Prediction using ML, DL, and QML</a:t>
            </a:r>
            <a:endParaRPr b="1" i="0" sz="2700" u="none" cap="none" strike="noStrike">
              <a:solidFill>
                <a:srgbClr val="D7AC54"/>
              </a:solidFill>
              <a:latin typeface="Cantarell"/>
              <a:ea typeface="Cantarell"/>
              <a:cs typeface="Cantarell"/>
              <a:sym typeface="Cantarell"/>
            </a:endParaRPr>
          </a:p>
        </p:txBody>
      </p:sp>
      <p:pic>
        <p:nvPicPr>
          <p:cNvPr descr="A picture containing text, logo, font, graphics&#10;&#10;Description automatically generated" id="60" name="Google Shape;60;p1"/>
          <p:cNvPicPr preferRelativeResize="0"/>
          <p:nvPr/>
        </p:nvPicPr>
        <p:blipFill rotWithShape="1">
          <a:blip r:embed="rId3">
            <a:alphaModFix/>
          </a:blip>
          <a:srcRect b="0" l="0" r="0" t="0"/>
          <a:stretch/>
        </p:blipFill>
        <p:spPr>
          <a:xfrm>
            <a:off x="6994922" y="0"/>
            <a:ext cx="2149079" cy="1208018"/>
          </a:xfrm>
          <a:prstGeom prst="rect">
            <a:avLst/>
          </a:prstGeom>
          <a:noFill/>
          <a:ln>
            <a:noFill/>
          </a:ln>
        </p:spPr>
      </p:pic>
      <p:sp>
        <p:nvSpPr>
          <p:cNvPr id="61" name="Google Shape;61;p1"/>
          <p:cNvSpPr/>
          <p:nvPr/>
        </p:nvSpPr>
        <p:spPr>
          <a:xfrm>
            <a:off x="0" y="4791075"/>
            <a:ext cx="9144000" cy="95100"/>
          </a:xfrm>
          <a:prstGeom prst="rect">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2" name="Google Shape;62;p1"/>
          <p:cNvSpPr/>
          <p:nvPr/>
        </p:nvSpPr>
        <p:spPr>
          <a:xfrm flipH="1" rot="10800000">
            <a:off x="0" y="4930228"/>
            <a:ext cx="9144000" cy="34200"/>
          </a:xfrm>
          <a:prstGeom prst="rect">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3" name="Google Shape;63;p1"/>
          <p:cNvSpPr txBox="1"/>
          <p:nvPr/>
        </p:nvSpPr>
        <p:spPr>
          <a:xfrm>
            <a:off x="3664758" y="2583185"/>
            <a:ext cx="4801200" cy="1151255"/>
          </a:xfrm>
          <a:prstGeom prst="rect">
            <a:avLst/>
          </a:prstGeom>
          <a:noFill/>
          <a:ln>
            <a:noFill/>
          </a:ln>
        </p:spPr>
        <p:txBody>
          <a:bodyPr anchorCtr="0" anchor="t" bIns="68575" lIns="68575" spcFirstLastPara="1" rIns="68575" wrap="square" tIns="68575">
            <a:spAutoFit/>
          </a:bodyPr>
          <a:lstStyle/>
          <a:p>
            <a:pPr indent="0" lvl="0" marL="0" marR="0" rtl="0" algn="r">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                                      Team members:</a:t>
            </a:r>
            <a:endParaRPr b="1"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                                                   USN 1RVU22CSE145  - SHASHANK G</a:t>
            </a:r>
            <a:endParaRPr b="1"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i="0" lang="en-GB" sz="1100" u="none" cap="none" strike="noStrike">
                <a:solidFill>
                  <a:schemeClr val="dk1"/>
                </a:solidFill>
                <a:latin typeface="Arial"/>
                <a:ea typeface="Arial"/>
                <a:cs typeface="Arial"/>
                <a:sym typeface="Arial"/>
              </a:rPr>
              <a:t>                                             USN 1RVU22CSE112  - NITHISH N</a:t>
            </a:r>
            <a:endParaRPr b="1" i="0" sz="1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1" i="0" lang="en-GB" sz="1100" u="none" cap="none" strike="noStrike">
                <a:solidFill>
                  <a:schemeClr val="dk1"/>
                </a:solidFill>
                <a:latin typeface="Arial"/>
                <a:ea typeface="Arial"/>
                <a:cs typeface="Arial"/>
                <a:sym typeface="Arial"/>
              </a:rPr>
              <a:t>   USN 1RVU23LCSE005 -PRUTHVIRAJ 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i="0" lang="en-GB" sz="1100" u="none" cap="none" strike="noStrike">
                <a:solidFill>
                  <a:schemeClr val="dk1"/>
                </a:solidFill>
                <a:latin typeface="Arial"/>
                <a:ea typeface="Arial"/>
                <a:cs typeface="Arial"/>
                <a:sym typeface="Arial"/>
              </a:rPr>
              <a:t>                                                   USN 1RVU23LCSE007  - SHRINIDHI R </a:t>
            </a:r>
            <a:r>
              <a:rPr b="1" i="0" lang="en-GB" sz="11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 </a:t>
            </a:r>
            <a:endParaRPr b="1" i="0" sz="1100" u="none" cap="none" strike="noStrike">
              <a:solidFill>
                <a:srgbClr val="000000"/>
              </a:solidFill>
              <a:latin typeface="Arial"/>
              <a:ea typeface="Arial"/>
              <a:cs typeface="Arial"/>
              <a:sym typeface="Arial"/>
            </a:endParaRPr>
          </a:p>
        </p:txBody>
      </p:sp>
      <p:sp>
        <p:nvSpPr>
          <p:cNvPr id="64" name="Google Shape;64;p1"/>
          <p:cNvSpPr txBox="1"/>
          <p:nvPr/>
        </p:nvSpPr>
        <p:spPr>
          <a:xfrm>
            <a:off x="109845" y="2706281"/>
            <a:ext cx="4461900" cy="85852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Project Guide: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Prof. CVSN REDDY</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School of Computer Science and Engineering </a:t>
            </a:r>
            <a:endParaRPr b="1"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RV University, Bangalore </a:t>
            </a:r>
            <a:endParaRPr b="1" i="0" sz="1100" u="none" cap="none" strike="noStrike">
              <a:solidFill>
                <a:srgbClr val="000000"/>
              </a:solidFill>
              <a:latin typeface="Arial"/>
              <a:ea typeface="Arial"/>
              <a:cs typeface="Arial"/>
              <a:sym typeface="Arial"/>
            </a:endParaRPr>
          </a:p>
        </p:txBody>
      </p:sp>
      <p:sp>
        <p:nvSpPr>
          <p:cNvPr id="65" name="Google Shape;65;p1"/>
          <p:cNvSpPr txBox="1"/>
          <p:nvPr/>
        </p:nvSpPr>
        <p:spPr>
          <a:xfrm>
            <a:off x="420360" y="179071"/>
            <a:ext cx="7395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Calibri"/>
                <a:ea typeface="Calibri"/>
                <a:cs typeface="Calibri"/>
                <a:sym typeface="Calibri"/>
              </a:rPr>
              <a:t>School of Computer Science and Engineering</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5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p:nvPr/>
        </p:nvSpPr>
        <p:spPr>
          <a:xfrm>
            <a:off x="0" y="179325"/>
            <a:ext cx="7125600" cy="7281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GB" sz="2200" u="none" cap="none" strike="noStrike">
                <a:solidFill>
                  <a:srgbClr val="D7AC54"/>
                </a:solidFill>
                <a:latin typeface="Cantarell"/>
                <a:ea typeface="Cantarell"/>
                <a:cs typeface="Cantarell"/>
                <a:sym typeface="Cantarell"/>
              </a:rPr>
              <a:t>Outlines </a:t>
            </a:r>
            <a:endParaRPr b="1" i="0" sz="2200" u="none" cap="none" strike="noStrike">
              <a:solidFill>
                <a:srgbClr val="D7AC54"/>
              </a:solidFill>
              <a:latin typeface="Cantarell"/>
              <a:ea typeface="Cantarell"/>
              <a:cs typeface="Cantarell"/>
              <a:sym typeface="Cantarell"/>
            </a:endParaRPr>
          </a:p>
        </p:txBody>
      </p:sp>
      <p:sp>
        <p:nvSpPr>
          <p:cNvPr id="71" name="Google Shape;71;p2"/>
          <p:cNvSpPr txBox="1"/>
          <p:nvPr/>
        </p:nvSpPr>
        <p:spPr>
          <a:xfrm>
            <a:off x="498317" y="1492463"/>
            <a:ext cx="8037300" cy="1776300"/>
          </a:xfrm>
          <a:prstGeom prst="rect">
            <a:avLst/>
          </a:prstGeom>
          <a:noFill/>
          <a:ln>
            <a:noFill/>
          </a:ln>
        </p:spPr>
        <p:txBody>
          <a:bodyPr anchorCtr="0" anchor="t" bIns="68575" lIns="68575" spcFirstLastPara="1" rIns="68575" wrap="square" tIns="68575">
            <a:spAutoFit/>
          </a:bodyPr>
          <a:lstStyle/>
          <a:p>
            <a:pPr indent="-349250" lvl="0" marL="457200" marR="0" rtl="0" algn="l">
              <a:lnSpc>
                <a:spcPct val="115000"/>
              </a:lnSpc>
              <a:spcBef>
                <a:spcPts val="0"/>
              </a:spcBef>
              <a:spcAft>
                <a:spcPts val="0"/>
              </a:spcAft>
              <a:buClr>
                <a:schemeClr val="dk1"/>
              </a:buClr>
              <a:buSzPts val="1900"/>
              <a:buFont typeface="Arial"/>
              <a:buAutoNum type="arabicPeriod"/>
            </a:pPr>
            <a:r>
              <a:rPr b="0" i="0" lang="en-GB" sz="1900" u="none" cap="none" strike="noStrike">
                <a:solidFill>
                  <a:schemeClr val="dk1"/>
                </a:solidFill>
                <a:latin typeface="Arial"/>
                <a:ea typeface="Arial"/>
                <a:cs typeface="Arial"/>
                <a:sym typeface="Arial"/>
              </a:rPr>
              <a:t>Introduction </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GB" sz="1900" u="none" cap="none" strike="noStrike">
                <a:solidFill>
                  <a:schemeClr val="dk1"/>
                </a:solidFill>
                <a:latin typeface="Arial"/>
                <a:ea typeface="Arial"/>
                <a:cs typeface="Arial"/>
                <a:sym typeface="Arial"/>
              </a:rPr>
              <a:t>Problem statement </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GB" sz="1900" u="none" cap="none" strike="noStrike">
                <a:solidFill>
                  <a:schemeClr val="dk1"/>
                </a:solidFill>
                <a:latin typeface="Arial"/>
                <a:ea typeface="Arial"/>
                <a:cs typeface="Arial"/>
                <a:sym typeface="Arial"/>
              </a:rPr>
              <a:t>Scope and Application Area</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GB" sz="1900" u="none" cap="none" strike="noStrike">
                <a:solidFill>
                  <a:schemeClr val="dk1"/>
                </a:solidFill>
                <a:latin typeface="Arial"/>
                <a:ea typeface="Arial"/>
                <a:cs typeface="Arial"/>
                <a:sym typeface="Arial"/>
              </a:rPr>
              <a:t>Objectives and expected outcomes</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AutoNum type="arabicPeriod"/>
            </a:pPr>
            <a:r>
              <a:rPr b="0" i="0" lang="en-GB" sz="1900" u="none" cap="none" strike="noStrike">
                <a:solidFill>
                  <a:schemeClr val="dk1"/>
                </a:solidFill>
                <a:latin typeface="Arial"/>
                <a:ea typeface="Arial"/>
                <a:cs typeface="Arial"/>
                <a:sym typeface="Arial"/>
              </a:rPr>
              <a:t>References </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3"/>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77" name="Google Shape;77;p3"/>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GB" sz="2200" u="none" cap="none" strike="noStrike">
                <a:solidFill>
                  <a:srgbClr val="D7AC54"/>
                </a:solidFill>
                <a:latin typeface="Cantarell"/>
                <a:ea typeface="Cantarell"/>
                <a:cs typeface="Cantarell"/>
                <a:sym typeface="Cantarell"/>
              </a:rPr>
              <a:t>Introduction  </a:t>
            </a:r>
            <a:endParaRPr b="1" i="0" sz="2200" u="none" cap="none" strike="noStrike">
              <a:solidFill>
                <a:srgbClr val="D7AC54"/>
              </a:solidFill>
              <a:latin typeface="Cantarell"/>
              <a:ea typeface="Cantarell"/>
              <a:cs typeface="Cantarell"/>
              <a:sym typeface="Cantarell"/>
            </a:endParaRPr>
          </a:p>
        </p:txBody>
      </p:sp>
      <p:sp>
        <p:nvSpPr>
          <p:cNvPr id="78" name="Google Shape;78;p3"/>
          <p:cNvSpPr txBox="1"/>
          <p:nvPr/>
        </p:nvSpPr>
        <p:spPr>
          <a:xfrm>
            <a:off x="448025" y="1178775"/>
            <a:ext cx="8101200" cy="336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79" name="Google Shape;79;p3"/>
          <p:cNvSpPr txBox="1"/>
          <p:nvPr/>
        </p:nvSpPr>
        <p:spPr>
          <a:xfrm>
            <a:off x="577775" y="1012250"/>
            <a:ext cx="8290800" cy="36546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Arial"/>
              <a:buChar char="●"/>
            </a:pPr>
            <a:r>
              <a:rPr b="1" i="0" lang="en-GB" sz="1800" u="none" cap="none" strike="noStrike">
                <a:solidFill>
                  <a:schemeClr val="dk2"/>
                </a:solidFill>
                <a:latin typeface="Arial"/>
                <a:ea typeface="Arial"/>
                <a:cs typeface="Arial"/>
                <a:sym typeface="Arial"/>
              </a:rPr>
              <a:t>Lung cancer is one of the leading causes of cancer-related deaths worldwide, with late detection being a major contributor to poor survival rates.</a:t>
            </a:r>
            <a:endParaRPr b="1"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Char char="●"/>
            </a:pPr>
            <a:r>
              <a:rPr b="1" i="0" lang="en-GB" sz="1800" u="none" cap="none" strike="noStrike">
                <a:solidFill>
                  <a:schemeClr val="dk2"/>
                </a:solidFill>
                <a:latin typeface="Arial"/>
                <a:ea typeface="Arial"/>
                <a:cs typeface="Arial"/>
                <a:sym typeface="Arial"/>
              </a:rPr>
              <a:t>While medical diagnosis requires clinical tests and expert evaluation, data-driven risk prediction models can assist in early risk awareness and preventive screening decisions.</a:t>
            </a:r>
            <a:endParaRPr b="1"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Char char="●"/>
            </a:pPr>
            <a:r>
              <a:rPr b="1" i="0" lang="en-GB" sz="1800" u="none" cap="none" strike="noStrike">
                <a:solidFill>
                  <a:schemeClr val="dk2"/>
                </a:solidFill>
                <a:latin typeface="Arial"/>
                <a:ea typeface="Arial"/>
                <a:cs typeface="Arial"/>
                <a:sym typeface="Arial"/>
              </a:rPr>
              <a:t>Machine learning helps analyze large healthcare data to find patterns that can predict disease risk.</a:t>
            </a:r>
            <a:endParaRPr b="1" i="0" sz="1800" u="none" cap="none" strike="noStrike">
              <a:solidFill>
                <a:schemeClr val="dk2"/>
              </a:solidFill>
              <a:latin typeface="Arial"/>
              <a:ea typeface="Arial"/>
              <a:cs typeface="Arial"/>
              <a:sym typeface="Arial"/>
            </a:endParaRPr>
          </a:p>
          <a:p>
            <a:pPr indent="-342900" lvl="0" marL="457200" marR="0" rtl="0" algn="l">
              <a:lnSpc>
                <a:spcPct val="100000"/>
              </a:lnSpc>
              <a:spcBef>
                <a:spcPts val="0"/>
              </a:spcBef>
              <a:spcAft>
                <a:spcPts val="0"/>
              </a:spcAft>
              <a:buClr>
                <a:schemeClr val="dk2"/>
              </a:buClr>
              <a:buSzPts val="1800"/>
              <a:buFont typeface="Arial"/>
              <a:buChar char="●"/>
            </a:pPr>
            <a:r>
              <a:rPr b="1" i="0" lang="en-GB" sz="1800" u="none" cap="none" strike="noStrike">
                <a:solidFill>
                  <a:schemeClr val="dk2"/>
                </a:solidFill>
                <a:latin typeface="Arial"/>
                <a:ea typeface="Arial"/>
                <a:cs typeface="Arial"/>
                <a:sym typeface="Arial"/>
              </a:rPr>
              <a:t>This project presents a full-stack lung cancer detection system that compares machine learning, deep learning, and quantum machine learning (QML/QNN) models to predict cancer risk based on patient data.</a:t>
            </a:r>
            <a:endParaRPr b="1"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p:nvPr/>
        </p:nvSpPr>
        <p:spPr>
          <a:xfrm>
            <a:off x="2092912" y="1526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GB" sz="1800" u="none" cap="none" strike="noStrike">
                <a:solidFill>
                  <a:srgbClr val="D7AC54"/>
                </a:solidFill>
                <a:latin typeface="Cantarell"/>
                <a:ea typeface="Cantarell"/>
                <a:cs typeface="Cantarell"/>
                <a:sym typeface="Cantarell"/>
              </a:rPr>
              <a:t>System Architecture</a:t>
            </a:r>
            <a:endParaRPr b="1" i="0" sz="1800" u="none" cap="none" strike="noStrike">
              <a:solidFill>
                <a:srgbClr val="D7AC54"/>
              </a:solidFill>
              <a:latin typeface="Cantarell"/>
              <a:ea typeface="Cantarell"/>
              <a:cs typeface="Cantarell"/>
              <a:sym typeface="Cantarell"/>
            </a:endParaRPr>
          </a:p>
        </p:txBody>
      </p:sp>
      <p:pic>
        <p:nvPicPr>
          <p:cNvPr id="85" name="Google Shape;85;p4"/>
          <p:cNvPicPr preferRelativeResize="0"/>
          <p:nvPr/>
        </p:nvPicPr>
        <p:blipFill rotWithShape="1">
          <a:blip r:embed="rId3">
            <a:alphaModFix/>
          </a:blip>
          <a:srcRect b="0" l="0" r="0" t="0"/>
          <a:stretch/>
        </p:blipFill>
        <p:spPr>
          <a:xfrm>
            <a:off x="3139440" y="619125"/>
            <a:ext cx="2865120" cy="39452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91" name="Google Shape;91;p5"/>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GB" sz="2200" u="none" cap="none" strike="noStrike">
                <a:solidFill>
                  <a:srgbClr val="D7AC54"/>
                </a:solidFill>
                <a:latin typeface="Cantarell"/>
                <a:ea typeface="Cantarell"/>
                <a:cs typeface="Cantarell"/>
                <a:sym typeface="Cantarell"/>
              </a:rPr>
              <a:t>Problem Statement </a:t>
            </a:r>
            <a:endParaRPr b="1" i="0" sz="2200" u="none" cap="none" strike="noStrike">
              <a:solidFill>
                <a:srgbClr val="D7AC54"/>
              </a:solidFill>
              <a:latin typeface="Cantarell"/>
              <a:ea typeface="Cantarell"/>
              <a:cs typeface="Cantarell"/>
              <a:sym typeface="Cantarell"/>
            </a:endParaRPr>
          </a:p>
        </p:txBody>
      </p:sp>
      <p:sp>
        <p:nvSpPr>
          <p:cNvPr id="92" name="Google Shape;92;p5"/>
          <p:cNvSpPr txBox="1"/>
          <p:nvPr/>
        </p:nvSpPr>
        <p:spPr>
          <a:xfrm>
            <a:off x="378125" y="1143775"/>
            <a:ext cx="8373000" cy="3335100"/>
          </a:xfrm>
          <a:prstGeom prst="rect">
            <a:avLst/>
          </a:prstGeom>
          <a:noFill/>
          <a:ln>
            <a:noFill/>
          </a:ln>
        </p:spPr>
        <p:txBody>
          <a:bodyPr anchorCtr="0" anchor="t" bIns="91425" lIns="91425" spcFirstLastPara="1" rIns="91425" wrap="square" tIns="91425">
            <a:noAutofit/>
          </a:bodyPr>
          <a:lstStyle/>
          <a:p>
            <a:pPr indent="-285750" lvl="0" marL="742950" marR="0" rtl="0" algn="l">
              <a:lnSpc>
                <a:spcPct val="100000"/>
              </a:lnSpc>
              <a:spcBef>
                <a:spcPts val="0"/>
              </a:spcBef>
              <a:spcAft>
                <a:spcPts val="0"/>
              </a:spcAft>
              <a:buClr>
                <a:srgbClr val="000000"/>
              </a:buClr>
              <a:buSzPts val="1600"/>
              <a:buFont typeface="Arial"/>
              <a:buChar char="•"/>
            </a:pPr>
            <a:r>
              <a:rPr b="1" i="0" lang="en-GB" sz="1600" u="none" cap="none" strike="noStrike">
                <a:solidFill>
                  <a:schemeClr val="dk2"/>
                </a:solidFill>
                <a:latin typeface="Arial"/>
                <a:ea typeface="Arial"/>
                <a:cs typeface="Arial"/>
                <a:sym typeface="Arial"/>
              </a:rPr>
              <a:t>Early identification of individuals at high risk of lung cancer is challenging due to multiple influencing factors such as age, smoking habits, work environment, and family history.</a:t>
            </a:r>
            <a:endParaRPr b="1" i="0" sz="1600" u="none" cap="none" strike="noStrike">
              <a:solidFill>
                <a:schemeClr val="dk2"/>
              </a:solidFill>
              <a:latin typeface="Arial"/>
              <a:ea typeface="Arial"/>
              <a:cs typeface="Arial"/>
              <a:sym typeface="Arial"/>
            </a:endParaRPr>
          </a:p>
          <a:p>
            <a:pPr indent="-184150" lvl="0" marL="74295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2"/>
              </a:solidFill>
              <a:latin typeface="Arial"/>
              <a:ea typeface="Arial"/>
              <a:cs typeface="Arial"/>
              <a:sym typeface="Arial"/>
            </a:endParaRPr>
          </a:p>
          <a:p>
            <a:pPr indent="-285750" lvl="0" marL="742950" marR="0" rtl="0" algn="l">
              <a:lnSpc>
                <a:spcPct val="100000"/>
              </a:lnSpc>
              <a:spcBef>
                <a:spcPts val="0"/>
              </a:spcBef>
              <a:spcAft>
                <a:spcPts val="0"/>
              </a:spcAft>
              <a:buClr>
                <a:srgbClr val="000000"/>
              </a:buClr>
              <a:buSzPts val="1600"/>
              <a:buFont typeface="Arial"/>
              <a:buChar char="•"/>
            </a:pPr>
            <a:r>
              <a:rPr b="1" i="0" lang="en-GB" sz="1600" u="none" cap="none" strike="noStrike">
                <a:solidFill>
                  <a:schemeClr val="dk2"/>
                </a:solidFill>
                <a:latin typeface="Arial"/>
                <a:ea typeface="Arial"/>
                <a:cs typeface="Arial"/>
                <a:sym typeface="Arial"/>
              </a:rPr>
              <a:t>Existing machine learning approaches for lung cancer risk analysis show varying performance across different datasets and evaluation metrics.</a:t>
            </a:r>
            <a:endParaRPr b="1" i="0" sz="1600" u="none" cap="none" strike="noStrike">
              <a:solidFill>
                <a:schemeClr val="dk2"/>
              </a:solidFill>
              <a:latin typeface="Arial"/>
              <a:ea typeface="Arial"/>
              <a:cs typeface="Arial"/>
              <a:sym typeface="Arial"/>
            </a:endParaRPr>
          </a:p>
          <a:p>
            <a:pPr indent="-184150" lvl="0" marL="74295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2"/>
              </a:solidFill>
              <a:latin typeface="Arial"/>
              <a:ea typeface="Arial"/>
              <a:cs typeface="Arial"/>
              <a:sym typeface="Arial"/>
            </a:endParaRPr>
          </a:p>
          <a:p>
            <a:pPr indent="-285750" lvl="0" marL="742950" marR="0" rtl="0" algn="l">
              <a:lnSpc>
                <a:spcPct val="100000"/>
              </a:lnSpc>
              <a:spcBef>
                <a:spcPts val="0"/>
              </a:spcBef>
              <a:spcAft>
                <a:spcPts val="0"/>
              </a:spcAft>
              <a:buClr>
                <a:srgbClr val="000000"/>
              </a:buClr>
              <a:buSzPts val="1600"/>
              <a:buFont typeface="Arial"/>
              <a:buChar char="•"/>
            </a:pPr>
            <a:r>
              <a:rPr b="1" i="0" lang="en-GB" sz="1600" u="none" cap="none" strike="noStrike">
                <a:solidFill>
                  <a:schemeClr val="dk2"/>
                </a:solidFill>
                <a:latin typeface="Arial"/>
                <a:ea typeface="Arial"/>
                <a:cs typeface="Arial"/>
                <a:sym typeface="Arial"/>
              </a:rPr>
              <a:t>There is a lack of a unified framework to systematically compare traditional machine learning, deep learning, and quantum machine learning (QML/QNN) models.</a:t>
            </a:r>
            <a:endParaRPr b="1" i="0" sz="1600" u="none" cap="none" strike="noStrike">
              <a:solidFill>
                <a:schemeClr val="dk2"/>
              </a:solidFill>
              <a:latin typeface="Arial"/>
              <a:ea typeface="Arial"/>
              <a:cs typeface="Arial"/>
              <a:sym typeface="Arial"/>
            </a:endParaRPr>
          </a:p>
          <a:p>
            <a:pPr indent="-184150" lvl="0" marL="74295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2"/>
              </a:solidFill>
              <a:latin typeface="Arial"/>
              <a:ea typeface="Arial"/>
              <a:cs typeface="Arial"/>
              <a:sym typeface="Arial"/>
            </a:endParaRPr>
          </a:p>
          <a:p>
            <a:pPr indent="-285750" lvl="0" marL="742950" marR="0" rtl="0" algn="l">
              <a:lnSpc>
                <a:spcPct val="100000"/>
              </a:lnSpc>
              <a:spcBef>
                <a:spcPts val="0"/>
              </a:spcBef>
              <a:spcAft>
                <a:spcPts val="0"/>
              </a:spcAft>
              <a:buClr>
                <a:srgbClr val="000000"/>
              </a:buClr>
              <a:buSzPts val="1600"/>
              <a:buFont typeface="Arial"/>
              <a:buChar char="•"/>
            </a:pPr>
            <a:r>
              <a:rPr b="1" i="0" lang="en-GB" sz="1600" u="none" cap="none" strike="noStrike">
                <a:solidFill>
                  <a:schemeClr val="dk2"/>
                </a:solidFill>
                <a:latin typeface="Arial"/>
                <a:ea typeface="Arial"/>
                <a:cs typeface="Arial"/>
                <a:sym typeface="Arial"/>
              </a:rPr>
              <a:t>This project aims to develop a full-stack system to evaluate and compare these models for lung cancer risk prediction using structured healthcare data.</a:t>
            </a:r>
            <a:endParaRPr b="1" i="0" sz="1600" u="none" cap="none" strike="noStrike">
              <a:solidFill>
                <a:schemeClr val="dk2"/>
              </a:solidFill>
              <a:latin typeface="Arial"/>
              <a:ea typeface="Arial"/>
              <a:cs typeface="Arial"/>
              <a:sym typeface="Arial"/>
            </a:endParaRPr>
          </a:p>
          <a:p>
            <a:pPr indent="-184150" lvl="0" marL="28575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98" name="Google Shape;98;p6"/>
          <p:cNvSpPr/>
          <p:nvPr/>
        </p:nvSpPr>
        <p:spPr>
          <a:xfrm>
            <a:off x="2329125" y="278676"/>
            <a:ext cx="4417800" cy="5694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GB" sz="2200" u="none" cap="none" strike="noStrike">
                <a:solidFill>
                  <a:srgbClr val="D7AC54"/>
                </a:solidFill>
                <a:latin typeface="Cantarell"/>
                <a:ea typeface="Cantarell"/>
                <a:cs typeface="Cantarell"/>
                <a:sym typeface="Cantarell"/>
              </a:rPr>
              <a:t>Scope and Application Area </a:t>
            </a:r>
            <a:endParaRPr b="1" i="0" sz="2200" u="none" cap="none" strike="noStrike">
              <a:solidFill>
                <a:srgbClr val="D7AC54"/>
              </a:solidFill>
              <a:latin typeface="Cantarell"/>
              <a:ea typeface="Cantarell"/>
              <a:cs typeface="Cantarell"/>
              <a:sym typeface="Cantarell"/>
            </a:endParaRPr>
          </a:p>
        </p:txBody>
      </p:sp>
      <p:sp>
        <p:nvSpPr>
          <p:cNvPr id="99" name="Google Shape;99;p6"/>
          <p:cNvSpPr txBox="1"/>
          <p:nvPr/>
        </p:nvSpPr>
        <p:spPr>
          <a:xfrm>
            <a:off x="413350" y="1002875"/>
            <a:ext cx="8513700" cy="347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Scope</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What we implement:</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Use publicly available and anonymized datasets such as UCI and Kaggle healthcare datasets.</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Focus on lung cancer risk prediction rather than clinical diagnosis.</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Implement and compare traditional machine learning, deep learning, and quantum machine learning (QML/QNN) models.</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Evaluate model performance using standard metrics and basic statistical analysis.</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Develop a simple full-stack web interface for user data input and visualization of prediction results.</a:t>
            </a:r>
            <a:endParaRPr b="1" i="0" sz="13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What we do not implement:</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Real-time or clinical lung cancer diagnosis.</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Advanced medical imaging analysis such as CT or X-ray image processing.</a:t>
            </a:r>
            <a:endParaRPr b="1" i="0" sz="13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Application Areas</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Healthcare risk analytics</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Preventive health screening systems</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Clinical decision support research</a:t>
            </a:r>
            <a:endParaRPr b="1" i="0" sz="13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300"/>
              <a:buFont typeface="Arial"/>
              <a:buChar char="•"/>
            </a:pPr>
            <a:r>
              <a:rPr b="1" i="0" lang="en-GB" sz="1300" u="none" cap="none" strike="noStrike">
                <a:solidFill>
                  <a:schemeClr val="dk1"/>
                </a:solidFill>
                <a:latin typeface="Arial"/>
                <a:ea typeface="Arial"/>
                <a:cs typeface="Arial"/>
                <a:sym typeface="Arial"/>
              </a:rPr>
              <a:t>Medical data science studies</a:t>
            </a:r>
            <a:endParaRPr b="1" i="0" sz="13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7"/>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05" name="Google Shape;105;p7"/>
          <p:cNvSpPr/>
          <p:nvPr/>
        </p:nvSpPr>
        <p:spPr>
          <a:xfrm>
            <a:off x="1772865" y="143740"/>
            <a:ext cx="4644000" cy="6435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GB" sz="2200" u="none" cap="none" strike="noStrike">
                <a:solidFill>
                  <a:srgbClr val="D7AC54"/>
                </a:solidFill>
                <a:latin typeface="Cantarell"/>
                <a:ea typeface="Cantarell"/>
                <a:cs typeface="Cantarell"/>
                <a:sym typeface="Cantarell"/>
              </a:rPr>
              <a:t>Objectives and Expected Outcomes </a:t>
            </a:r>
            <a:endParaRPr b="1" i="0" sz="2200" u="none" cap="none" strike="noStrike">
              <a:solidFill>
                <a:srgbClr val="D7AC54"/>
              </a:solidFill>
              <a:latin typeface="Cantarell"/>
              <a:ea typeface="Cantarell"/>
              <a:cs typeface="Cantarell"/>
              <a:sym typeface="Cantarell"/>
            </a:endParaRPr>
          </a:p>
        </p:txBody>
      </p:sp>
      <p:sp>
        <p:nvSpPr>
          <p:cNvPr id="106" name="Google Shape;106;p7"/>
          <p:cNvSpPr txBox="1"/>
          <p:nvPr/>
        </p:nvSpPr>
        <p:spPr>
          <a:xfrm>
            <a:off x="413350" y="1096800"/>
            <a:ext cx="8232000" cy="339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GB" sz="1300" u="none" cap="none" strike="noStrike">
                <a:solidFill>
                  <a:schemeClr val="dk1"/>
                </a:solidFill>
                <a:latin typeface="Arial"/>
                <a:ea typeface="Arial"/>
                <a:cs typeface="Arial"/>
                <a:sym typeface="Arial"/>
              </a:rPr>
              <a:t>Objectives:</a:t>
            </a:r>
            <a:endParaRPr b="0" i="0" sz="1300" u="none" cap="none" strike="noStrike">
              <a:solidFill>
                <a:schemeClr val="dk1"/>
              </a:solidFill>
              <a:latin typeface="Arial"/>
              <a:ea typeface="Arial"/>
              <a:cs typeface="Arial"/>
              <a:sym typeface="Arial"/>
            </a:endParaRPr>
          </a:p>
          <a:p>
            <a:pPr indent="-285750" lvl="0" marL="431800" marR="0" rtl="0" algn="l">
              <a:lnSpc>
                <a:spcPct val="100000"/>
              </a:lnSpc>
              <a:spcBef>
                <a:spcPts val="0"/>
              </a:spcBef>
              <a:spcAft>
                <a:spcPts val="0"/>
              </a:spcAft>
              <a:buClr>
                <a:schemeClr val="dk1"/>
              </a:buClr>
              <a:buSzPts val="1300"/>
              <a:buFont typeface="Arial"/>
              <a:buChar char="•"/>
            </a:pPr>
            <a:r>
              <a:rPr b="1" i="0" lang="en-GB" sz="1300" u="none" cap="none" strike="noStrike">
                <a:solidFill>
                  <a:schemeClr val="dk1"/>
                </a:solidFill>
                <a:latin typeface="Arial"/>
                <a:ea typeface="Arial"/>
                <a:cs typeface="Arial"/>
                <a:sym typeface="Arial"/>
              </a:rPr>
              <a:t>To apply lung cancer datasets on machine learning, deep learning, and quantum machine learning (QML/QNN) models.</a:t>
            </a:r>
            <a:endParaRPr b="1" i="0" sz="1300" u="none" cap="none" strike="noStrike">
              <a:solidFill>
                <a:schemeClr val="dk1"/>
              </a:solidFill>
              <a:latin typeface="Arial"/>
              <a:ea typeface="Arial"/>
              <a:cs typeface="Arial"/>
              <a:sym typeface="Arial"/>
            </a:endParaRPr>
          </a:p>
          <a:p>
            <a:pPr indent="-285750" lvl="0" marL="431800" marR="0" rtl="0" algn="l">
              <a:lnSpc>
                <a:spcPct val="100000"/>
              </a:lnSpc>
              <a:spcBef>
                <a:spcPts val="0"/>
              </a:spcBef>
              <a:spcAft>
                <a:spcPts val="0"/>
              </a:spcAft>
              <a:buClr>
                <a:schemeClr val="dk1"/>
              </a:buClr>
              <a:buSzPts val="1300"/>
              <a:buFont typeface="Arial"/>
              <a:buChar char="•"/>
            </a:pPr>
            <a:r>
              <a:rPr b="1" i="0" lang="en-GB" sz="1300" u="none" cap="none" strike="noStrike">
                <a:solidFill>
                  <a:schemeClr val="dk1"/>
                </a:solidFill>
                <a:latin typeface="Arial"/>
                <a:ea typeface="Arial"/>
                <a:cs typeface="Arial"/>
                <a:sym typeface="Arial"/>
              </a:rPr>
              <a:t>To preprocess and prepare healthcare data for effective model training and evaluation.</a:t>
            </a:r>
            <a:endParaRPr b="1" i="0" sz="1300" u="none" cap="none" strike="noStrike">
              <a:solidFill>
                <a:schemeClr val="dk1"/>
              </a:solidFill>
              <a:latin typeface="Arial"/>
              <a:ea typeface="Arial"/>
              <a:cs typeface="Arial"/>
              <a:sym typeface="Arial"/>
            </a:endParaRPr>
          </a:p>
          <a:p>
            <a:pPr indent="-285750" lvl="0" marL="431800" marR="0" rtl="0" algn="l">
              <a:lnSpc>
                <a:spcPct val="100000"/>
              </a:lnSpc>
              <a:spcBef>
                <a:spcPts val="0"/>
              </a:spcBef>
              <a:spcAft>
                <a:spcPts val="0"/>
              </a:spcAft>
              <a:buClr>
                <a:schemeClr val="dk1"/>
              </a:buClr>
              <a:buSzPts val="1300"/>
              <a:buFont typeface="Arial"/>
              <a:buChar char="•"/>
            </a:pPr>
            <a:r>
              <a:rPr b="1" i="0" lang="en-GB" sz="1300" u="none" cap="none" strike="noStrike">
                <a:solidFill>
                  <a:schemeClr val="dk1"/>
                </a:solidFill>
                <a:latin typeface="Arial"/>
                <a:ea typeface="Arial"/>
                <a:cs typeface="Arial"/>
                <a:sym typeface="Arial"/>
              </a:rPr>
              <a:t>To compare different models based on performance metrics such as accuracy and error rates.</a:t>
            </a:r>
            <a:endParaRPr b="1" i="0" sz="1300" u="none" cap="none" strike="noStrike">
              <a:solidFill>
                <a:schemeClr val="dk1"/>
              </a:solidFill>
              <a:latin typeface="Arial"/>
              <a:ea typeface="Arial"/>
              <a:cs typeface="Arial"/>
              <a:sym typeface="Arial"/>
            </a:endParaRPr>
          </a:p>
          <a:p>
            <a:pPr indent="-285750" lvl="0" marL="431800" marR="0" rtl="0" algn="l">
              <a:lnSpc>
                <a:spcPct val="100000"/>
              </a:lnSpc>
              <a:spcBef>
                <a:spcPts val="0"/>
              </a:spcBef>
              <a:spcAft>
                <a:spcPts val="0"/>
              </a:spcAft>
              <a:buClr>
                <a:schemeClr val="dk1"/>
              </a:buClr>
              <a:buSzPts val="1300"/>
              <a:buFont typeface="Arial"/>
              <a:buChar char="•"/>
            </a:pPr>
            <a:r>
              <a:rPr b="1" i="0" lang="en-GB" sz="1300" u="none" cap="none" strike="noStrike">
                <a:solidFill>
                  <a:schemeClr val="dk1"/>
                </a:solidFill>
                <a:latin typeface="Arial"/>
                <a:ea typeface="Arial"/>
                <a:cs typeface="Arial"/>
                <a:sym typeface="Arial"/>
              </a:rPr>
              <a:t>To analyze model behavior using feature importance and interpretability techniques.</a:t>
            </a:r>
            <a:br>
              <a:rPr b="1" i="0" lang="en-GB" sz="1300" u="none" cap="none" strike="noStrike">
                <a:solidFill>
                  <a:schemeClr val="dk1"/>
                </a:solidFill>
                <a:latin typeface="Arial"/>
                <a:ea typeface="Arial"/>
                <a:cs typeface="Arial"/>
                <a:sym typeface="Arial"/>
              </a:rPr>
            </a:br>
            <a:endParaRPr b="1" i="0" sz="1300" u="none" cap="none" strike="noStrike">
              <a:solidFill>
                <a:schemeClr val="dk1"/>
              </a:solidFill>
              <a:latin typeface="Arial"/>
              <a:ea typeface="Arial"/>
              <a:cs typeface="Arial"/>
              <a:sym typeface="Arial"/>
            </a:endParaRPr>
          </a:p>
          <a:p>
            <a:pPr indent="-285750" lvl="0" marL="431800" marR="0" rtl="0" algn="l">
              <a:lnSpc>
                <a:spcPct val="100000"/>
              </a:lnSpc>
              <a:spcBef>
                <a:spcPts val="0"/>
              </a:spcBef>
              <a:spcAft>
                <a:spcPts val="0"/>
              </a:spcAft>
              <a:buClr>
                <a:schemeClr val="dk1"/>
              </a:buClr>
              <a:buSzPts val="1300"/>
              <a:buFont typeface="Arial"/>
              <a:buChar char="•"/>
            </a:pPr>
            <a:r>
              <a:rPr b="1" i="0" lang="en-GB" sz="1300" u="none" cap="none" strike="noStrike">
                <a:solidFill>
                  <a:schemeClr val="dk1"/>
                </a:solidFill>
                <a:latin typeface="Arial"/>
                <a:ea typeface="Arial"/>
                <a:cs typeface="Arial"/>
                <a:sym typeface="Arial"/>
              </a:rPr>
              <a:t>To enable the complete system through a full-stack architecture.</a:t>
            </a:r>
            <a:endParaRPr b="1" i="0" sz="1300" u="none" cap="none" strike="noStrike">
              <a:solidFill>
                <a:schemeClr val="dk1"/>
              </a:solidFill>
              <a:latin typeface="Arial"/>
              <a:ea typeface="Arial"/>
              <a:cs typeface="Arial"/>
              <a:sym typeface="Arial"/>
            </a:endParaRPr>
          </a:p>
          <a:p>
            <a:pPr indent="-285750" lvl="0" marL="444500" marR="0" rtl="0" algn="l">
              <a:lnSpc>
                <a:spcPct val="115000"/>
              </a:lnSpc>
              <a:spcBef>
                <a:spcPts val="0"/>
              </a:spcBef>
              <a:spcAft>
                <a:spcPts val="0"/>
              </a:spcAft>
              <a:buClr>
                <a:schemeClr val="dk1"/>
              </a:buClr>
              <a:buSzPts val="1100"/>
              <a:buFont typeface="Arial"/>
              <a:buChar char="•"/>
            </a:pPr>
            <a:r>
              <a:rPr b="1" i="0" lang="en-GB" sz="1300" u="none" cap="none" strike="noStrike">
                <a:solidFill>
                  <a:schemeClr val="dk1"/>
                </a:solidFill>
                <a:latin typeface="Arial"/>
                <a:ea typeface="Arial"/>
                <a:cs typeface="Arial"/>
                <a:sym typeface="Arial"/>
              </a:rPr>
              <a:t>To develop a simple web-based GUI for user input and visualization of prediction results.</a:t>
            </a:r>
            <a:br>
              <a:rPr b="0" i="0" lang="en-GB" sz="1300" u="none" cap="none" strike="noStrike">
                <a:solidFill>
                  <a:schemeClr val="dk1"/>
                </a:solidFill>
                <a:latin typeface="Arial"/>
                <a:ea typeface="Arial"/>
                <a:cs typeface="Arial"/>
                <a:sym typeface="Arial"/>
              </a:rPr>
            </a:br>
            <a:endParaRPr b="0" i="0" sz="1300" u="none" cap="none" strike="noStrike">
              <a:solidFill>
                <a:schemeClr val="dk1"/>
              </a:solidFill>
              <a:latin typeface="Arial"/>
              <a:ea typeface="Arial"/>
              <a:cs typeface="Arial"/>
              <a:sym typeface="Arial"/>
            </a:endParaRPr>
          </a:p>
          <a:p>
            <a:pPr indent="0" lvl="0" marL="457200" marR="0" rtl="0" algn="l">
              <a:lnSpc>
                <a:spcPct val="100000"/>
              </a:lnSpc>
              <a:spcBef>
                <a:spcPts val="120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nvSpPr>
        <p:spPr>
          <a:xfrm>
            <a:off x="542525" y="1061575"/>
            <a:ext cx="8196600" cy="355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n-GB" sz="1300" u="none" cap="none" strike="noStrike">
                <a:solidFill>
                  <a:schemeClr val="dk1"/>
                </a:solidFill>
                <a:latin typeface="Arial"/>
                <a:ea typeface="Arial"/>
                <a:cs typeface="Arial"/>
                <a:sym typeface="Arial"/>
              </a:rPr>
              <a:t>    Expected Outcomes:</a:t>
            </a:r>
            <a:endParaRPr b="1" i="0" sz="1300" u="none" cap="none" strike="noStrike">
              <a:solidFill>
                <a:schemeClr val="dk1"/>
              </a:solidFill>
              <a:latin typeface="Arial"/>
              <a:ea typeface="Arial"/>
              <a:cs typeface="Arial"/>
              <a:sym typeface="Arial"/>
            </a:endParaRPr>
          </a:p>
          <a:p>
            <a:pPr indent="-285750" lvl="0" marL="431800" marR="0" rtl="0" algn="l">
              <a:lnSpc>
                <a:spcPct val="100000"/>
              </a:lnSpc>
              <a:spcBef>
                <a:spcPts val="1200"/>
              </a:spcBef>
              <a:spcAft>
                <a:spcPts val="0"/>
              </a:spcAft>
              <a:buClr>
                <a:schemeClr val="dk1"/>
              </a:buClr>
              <a:buSzPts val="1300"/>
              <a:buFont typeface="Arial"/>
              <a:buChar char="•"/>
            </a:pPr>
            <a:r>
              <a:rPr b="1" i="0" lang="en-GB" sz="1400" u="none" cap="none" strike="noStrike">
                <a:solidFill>
                  <a:schemeClr val="dk1"/>
                </a:solidFill>
                <a:latin typeface="Arial"/>
                <a:ea typeface="Arial"/>
                <a:cs typeface="Arial"/>
                <a:sym typeface="Arial"/>
              </a:rPr>
              <a:t>Comparative analysis of ML, DL, and QML/QNN models for lung cancer risk prediction.</a:t>
            </a:r>
            <a:endParaRPr b="1" i="0" sz="1400" u="none" cap="none" strike="noStrike">
              <a:solidFill>
                <a:schemeClr val="dk1"/>
              </a:solidFill>
              <a:latin typeface="Arial"/>
              <a:ea typeface="Arial"/>
              <a:cs typeface="Arial"/>
              <a:sym typeface="Arial"/>
            </a:endParaRPr>
          </a:p>
          <a:p>
            <a:pPr indent="-285750" lvl="0" marL="431800" marR="0" rtl="0" algn="l">
              <a:lnSpc>
                <a:spcPct val="100000"/>
              </a:lnSpc>
              <a:spcBef>
                <a:spcPts val="1200"/>
              </a:spcBef>
              <a:spcAft>
                <a:spcPts val="0"/>
              </a:spcAft>
              <a:buClr>
                <a:schemeClr val="dk1"/>
              </a:buClr>
              <a:buSzPts val="1300"/>
              <a:buFont typeface="Arial"/>
              <a:buChar char="•"/>
            </a:pPr>
            <a:r>
              <a:rPr b="1" i="0" lang="en-GB" sz="1400" u="none" cap="none" strike="noStrike">
                <a:solidFill>
                  <a:schemeClr val="dk1"/>
                </a:solidFill>
                <a:latin typeface="Arial"/>
                <a:ea typeface="Arial"/>
                <a:cs typeface="Arial"/>
                <a:sym typeface="Arial"/>
              </a:rPr>
              <a:t>Identification of the most reliable model based on accuracy, false positives, and stability.</a:t>
            </a:r>
            <a:endParaRPr b="1" i="0" sz="1400" u="none" cap="none" strike="noStrike">
              <a:solidFill>
                <a:schemeClr val="dk1"/>
              </a:solidFill>
              <a:latin typeface="Arial"/>
              <a:ea typeface="Arial"/>
              <a:cs typeface="Arial"/>
              <a:sym typeface="Arial"/>
            </a:endParaRPr>
          </a:p>
          <a:p>
            <a:pPr indent="-285750" lvl="0" marL="431800" marR="0" rtl="0" algn="l">
              <a:lnSpc>
                <a:spcPct val="100000"/>
              </a:lnSpc>
              <a:spcBef>
                <a:spcPts val="1200"/>
              </a:spcBef>
              <a:spcAft>
                <a:spcPts val="0"/>
              </a:spcAft>
              <a:buClr>
                <a:schemeClr val="dk1"/>
              </a:buClr>
              <a:buSzPts val="1300"/>
              <a:buFont typeface="Arial"/>
              <a:buChar char="•"/>
            </a:pPr>
            <a:r>
              <a:rPr b="1" i="0" lang="en-GB" sz="1400" u="none" cap="none" strike="noStrike">
                <a:solidFill>
                  <a:schemeClr val="dk1"/>
                </a:solidFill>
                <a:latin typeface="Arial"/>
                <a:ea typeface="Arial"/>
                <a:cs typeface="Arial"/>
                <a:sym typeface="Arial"/>
              </a:rPr>
              <a:t>Objective model evaluation using standard performance metrics and explainability methods.</a:t>
            </a:r>
            <a:endParaRPr b="1" i="0" sz="1400" u="none" cap="none" strike="noStrike">
              <a:solidFill>
                <a:schemeClr val="dk1"/>
              </a:solidFill>
              <a:latin typeface="Arial"/>
              <a:ea typeface="Arial"/>
              <a:cs typeface="Arial"/>
              <a:sym typeface="Arial"/>
            </a:endParaRPr>
          </a:p>
          <a:p>
            <a:pPr indent="-285750" lvl="0" marL="431800" marR="0" rtl="0" algn="l">
              <a:lnSpc>
                <a:spcPct val="100000"/>
              </a:lnSpc>
              <a:spcBef>
                <a:spcPts val="1200"/>
              </a:spcBef>
              <a:spcAft>
                <a:spcPts val="0"/>
              </a:spcAft>
              <a:buClr>
                <a:schemeClr val="dk1"/>
              </a:buClr>
              <a:buSzPts val="1300"/>
              <a:buFont typeface="Arial"/>
              <a:buChar char="•"/>
            </a:pPr>
            <a:r>
              <a:rPr b="1" i="0" lang="en-GB" sz="1400" u="none" cap="none" strike="noStrike">
                <a:solidFill>
                  <a:schemeClr val="dk1"/>
                </a:solidFill>
                <a:latin typeface="Arial"/>
                <a:ea typeface="Arial"/>
                <a:cs typeface="Arial"/>
                <a:sym typeface="Arial"/>
              </a:rPr>
              <a:t>A working full-stack web prototype demonstrating lung cancer risk prediction.</a:t>
            </a:r>
            <a:endParaRPr b="1" i="0" sz="1400" u="none" cap="none" strike="noStrike">
              <a:solidFill>
                <a:schemeClr val="dk1"/>
              </a:solidFill>
              <a:latin typeface="Arial"/>
              <a:ea typeface="Arial"/>
              <a:cs typeface="Arial"/>
              <a:sym typeface="Arial"/>
            </a:endParaRPr>
          </a:p>
          <a:p>
            <a:pPr indent="-196850" lvl="0" marL="285750" marR="0" rtl="0" algn="l">
              <a:lnSpc>
                <a:spcPct val="100000"/>
              </a:lnSpc>
              <a:spcBef>
                <a:spcPts val="120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nvSpPr>
        <p:spPr>
          <a:xfrm>
            <a:off x="425100" y="1378650"/>
            <a:ext cx="7950000" cy="291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17" name="Google Shape;117;p9"/>
          <p:cNvSpPr txBox="1"/>
          <p:nvPr/>
        </p:nvSpPr>
        <p:spPr>
          <a:xfrm>
            <a:off x="2232660" y="257175"/>
            <a:ext cx="3048000" cy="3067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000000"/>
                </a:solidFill>
                <a:latin typeface="Arial"/>
                <a:ea typeface="Arial"/>
                <a:cs typeface="Arial"/>
                <a:sym typeface="Arial"/>
              </a:rPr>
              <a:t>       System Workflow</a:t>
            </a:r>
            <a:endParaRPr b="1" i="0" sz="1400" u="none" cap="none" strike="noStrike">
              <a:solidFill>
                <a:srgbClr val="000000"/>
              </a:solidFill>
              <a:latin typeface="Arial"/>
              <a:ea typeface="Arial"/>
              <a:cs typeface="Arial"/>
              <a:sym typeface="Arial"/>
            </a:endParaRPr>
          </a:p>
        </p:txBody>
      </p:sp>
      <p:pic>
        <p:nvPicPr>
          <p:cNvPr id="118" name="Google Shape;118;p9"/>
          <p:cNvPicPr preferRelativeResize="0"/>
          <p:nvPr/>
        </p:nvPicPr>
        <p:blipFill rotWithShape="1">
          <a:blip r:embed="rId3">
            <a:alphaModFix/>
          </a:blip>
          <a:srcRect b="0" l="0" r="0" t="0"/>
          <a:stretch/>
        </p:blipFill>
        <p:spPr>
          <a:xfrm>
            <a:off x="925830" y="1207770"/>
            <a:ext cx="6454140" cy="27279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0"/>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24" name="Google Shape;124;p10"/>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GB" sz="2200" u="none" cap="none" strike="noStrike">
                <a:solidFill>
                  <a:srgbClr val="D7AC54"/>
                </a:solidFill>
                <a:latin typeface="Cantarell"/>
                <a:ea typeface="Cantarell"/>
                <a:cs typeface="Cantarell"/>
                <a:sym typeface="Cantarell"/>
              </a:rPr>
              <a:t>References</a:t>
            </a:r>
            <a:endParaRPr b="1" i="0" sz="2200" u="none" cap="none" strike="noStrike">
              <a:solidFill>
                <a:srgbClr val="D7AC54"/>
              </a:solidFill>
              <a:latin typeface="Cantarell"/>
              <a:ea typeface="Cantarell"/>
              <a:cs typeface="Cantarell"/>
              <a:sym typeface="Cantarell"/>
            </a:endParaRPr>
          </a:p>
        </p:txBody>
      </p:sp>
      <p:sp>
        <p:nvSpPr>
          <p:cNvPr id="125" name="Google Shape;125;p10"/>
          <p:cNvSpPr txBox="1"/>
          <p:nvPr/>
        </p:nvSpPr>
        <p:spPr>
          <a:xfrm>
            <a:off x="472075" y="1155525"/>
            <a:ext cx="8091000" cy="3370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GB" sz="1300" u="sng" cap="none" strike="noStrike">
                <a:solidFill>
                  <a:schemeClr val="dk1"/>
                </a:solidFill>
                <a:latin typeface="Arial"/>
                <a:ea typeface="Arial"/>
                <a:cs typeface="Arial"/>
                <a:sym typeface="Arial"/>
              </a:rPr>
              <a:t>References</a:t>
            </a:r>
            <a:endParaRPr b="1" i="0" sz="1300" u="sng"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[1] K. Mohan and B. Thayyil, “Machine learning techniques for lung cancer risk prediction using text dataset,” </a:t>
            </a:r>
            <a:r>
              <a:rPr b="0" i="1" lang="en-GB" sz="1100" u="none" cap="none" strike="noStrike">
                <a:solidFill>
                  <a:schemeClr val="dk1"/>
                </a:solidFill>
                <a:latin typeface="Arial"/>
                <a:ea typeface="Arial"/>
                <a:cs typeface="Arial"/>
                <a:sym typeface="Arial"/>
              </a:rPr>
              <a:t>International Journal of Data Informatics and Science</a:t>
            </a:r>
            <a:r>
              <a:rPr b="0" i="0" lang="en-GB" sz="1100" u="none" cap="none" strike="noStrike">
                <a:solidFill>
                  <a:schemeClr val="dk1"/>
                </a:solidFill>
                <a:latin typeface="Arial"/>
                <a:ea typeface="Arial"/>
                <a:cs typeface="Arial"/>
                <a:sym typeface="Arial"/>
              </a:rPr>
              <a:t>, vol. 3, no. 2, pp. 45–54, 2023.</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[2] S. A. Khan, M. Alam, and R. Gupta, “Lung cancer risk prediction using machine learning techniques,” </a:t>
            </a:r>
            <a:r>
              <a:rPr b="0" i="1" lang="en-GB" sz="1100" u="none" cap="none" strike="noStrike">
                <a:solidFill>
                  <a:schemeClr val="dk1"/>
                </a:solidFill>
                <a:latin typeface="Arial"/>
                <a:ea typeface="Arial"/>
                <a:cs typeface="Arial"/>
                <a:sym typeface="Arial"/>
              </a:rPr>
              <a:t>Journal of Scientific Research</a:t>
            </a:r>
            <a:r>
              <a:rPr b="0" i="0" lang="en-GB" sz="1100" u="none" cap="none" strike="noStrike">
                <a:solidFill>
                  <a:schemeClr val="dk1"/>
                </a:solidFill>
                <a:latin typeface="Arial"/>
                <a:ea typeface="Arial"/>
                <a:cs typeface="Arial"/>
                <a:sym typeface="Arial"/>
              </a:rPr>
              <a:t>, vol. 14, no. 1, pp. 89–97, 2021.</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[3] J. Liu, Y. Wang, and X. Zhang, “Improving lung cancer risk prediction using ensemble machine learning models,” </a:t>
            </a:r>
            <a:r>
              <a:rPr b="0" i="1" lang="en-GB" sz="1100" u="none" cap="none" strike="noStrike">
                <a:solidFill>
                  <a:schemeClr val="dk1"/>
                </a:solidFill>
                <a:latin typeface="Arial"/>
                <a:ea typeface="Arial"/>
                <a:cs typeface="Arial"/>
                <a:sym typeface="Arial"/>
              </a:rPr>
              <a:t>IEEE Access</a:t>
            </a:r>
            <a:r>
              <a:rPr b="0" i="0" lang="en-GB" sz="1100" u="none" cap="none" strike="noStrike">
                <a:solidFill>
                  <a:schemeClr val="dk1"/>
                </a:solidFill>
                <a:latin typeface="Arial"/>
                <a:ea typeface="Arial"/>
                <a:cs typeface="Arial"/>
                <a:sym typeface="Arial"/>
              </a:rPr>
              <a:t>, vol. 9, pp. 112345–112356, 2021.</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[4] A. Sharma and P. Verma, “Lung cancer risk analysis and prediction using machine learning approaches,” </a:t>
            </a:r>
            <a:r>
              <a:rPr b="0" i="1" lang="en-GB" sz="1100" u="none" cap="none" strike="noStrike">
                <a:solidFill>
                  <a:schemeClr val="dk1"/>
                </a:solidFill>
                <a:latin typeface="Arial"/>
                <a:ea typeface="Arial"/>
                <a:cs typeface="Arial"/>
                <a:sym typeface="Arial"/>
              </a:rPr>
              <a:t>Health Science and Engineering Journal</a:t>
            </a:r>
            <a:r>
              <a:rPr b="0" i="0" lang="en-GB" sz="1100" u="none" cap="none" strike="noStrike">
                <a:solidFill>
                  <a:schemeClr val="dk1"/>
                </a:solidFill>
                <a:latin typeface="Arial"/>
                <a:ea typeface="Arial"/>
                <a:cs typeface="Arial"/>
                <a:sym typeface="Arial"/>
              </a:rPr>
              <a:t>, vol. 5, no. 3, pp. 210–218, 2022.</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[5] R. Patel, N. Shah, and K. Desai, “Explainable machine learning for lung cancer risk prediction,” </a:t>
            </a:r>
            <a:r>
              <a:rPr b="0" i="1" lang="en-GB" sz="1100" u="none" cap="none" strike="noStrike">
                <a:solidFill>
                  <a:schemeClr val="dk1"/>
                </a:solidFill>
                <a:latin typeface="Arial"/>
                <a:ea typeface="Arial"/>
                <a:cs typeface="Arial"/>
                <a:sym typeface="Arial"/>
              </a:rPr>
              <a:t>Computers in Biology and Medicine</a:t>
            </a:r>
            <a:r>
              <a:rPr b="0" i="0" lang="en-GB" sz="1100" u="none" cap="none" strike="noStrike">
                <a:solidFill>
                  <a:schemeClr val="dk1"/>
                </a:solidFill>
                <a:latin typeface="Arial"/>
                <a:ea typeface="Arial"/>
                <a:cs typeface="Arial"/>
                <a:sym typeface="Arial"/>
              </a:rPr>
              <a:t>, vol. 146, pp. 105558, 2022.</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1100"/>
              <a:buFont typeface="Arial"/>
              <a:buNone/>
            </a:pPr>
            <a:r>
              <a:t/>
            </a:r>
            <a:endParaRPr b="0" i="0" sz="1100" u="sng" cap="none" strike="noStrike">
              <a:solidFill>
                <a:schemeClr val="hlink"/>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b27f2c9c27_0_0"/>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lang="en-GB" sz="2200">
                <a:solidFill>
                  <a:srgbClr val="D7AC54"/>
                </a:solidFill>
                <a:latin typeface="Cantarell"/>
                <a:ea typeface="Cantarell"/>
                <a:cs typeface="Cantarell"/>
                <a:sym typeface="Cantarell"/>
              </a:rPr>
              <a:t>Conclusion</a:t>
            </a:r>
            <a:endParaRPr b="1" i="0" sz="2200" u="none" cap="none" strike="noStrike">
              <a:solidFill>
                <a:srgbClr val="D7AC54"/>
              </a:solidFill>
              <a:latin typeface="Cantarell"/>
              <a:ea typeface="Cantarell"/>
              <a:cs typeface="Cantarell"/>
              <a:sym typeface="Cantarell"/>
            </a:endParaRPr>
          </a:p>
        </p:txBody>
      </p:sp>
      <p:sp>
        <p:nvSpPr>
          <p:cNvPr id="131" name="Google Shape;131;g3b27f2c9c27_0_0"/>
          <p:cNvSpPr txBox="1"/>
          <p:nvPr/>
        </p:nvSpPr>
        <p:spPr>
          <a:xfrm>
            <a:off x="378125" y="1237725"/>
            <a:ext cx="8020500" cy="29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This project presents a comprehensive full-stack framework for lung cancer risk prediction by systematically comparing traditional machine learning, deep learning, and quantum machine learning (QML/QNN) models using structured healthcare data. By focusing on early risk assessment rather than clinical diagnosis, the system highlights how data-driven approaches can support preventive healthcare and risk awareness. The comparative evaluation using standard performance metrics and interpretability techniques helps identify reliable and stable models while providing insights into key risk factors influencing predictions. The developed web-based interface further demonstrates the practical applicability of the system, making the results accessible and understandable to users.</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92313b2107_0_0"/>
          <p:cNvSpPr txBox="1"/>
          <p:nvPr/>
        </p:nvSpPr>
        <p:spPr>
          <a:xfrm>
            <a:off x="530800" y="1660475"/>
            <a:ext cx="7809300" cy="21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                                      </a:t>
            </a:r>
            <a:r>
              <a:rPr b="1" i="1" lang="en-GB" sz="3900">
                <a:solidFill>
                  <a:schemeClr val="dk2"/>
                </a:solidFill>
              </a:rPr>
              <a:t>THANK YOU</a:t>
            </a:r>
            <a:endParaRPr b="1" i="1" sz="39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2026-01-02T13:16:44Z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8D7F96804BF74F319624D6ACF53E8AFD_12</vt:lpwstr>
  </property>
  <property fmtid="{D5CDD505-2E9C-101B-9397-08002B2CF9AE}" pid="3" name="KSOProductBuildVer">
    <vt:lpwstr>1033-12.2.0.23196</vt:lpwstr>
  </property>
</Properties>
</file>